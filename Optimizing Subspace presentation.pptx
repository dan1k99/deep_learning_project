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dvanit" panose="020B0604020202020204" charset="-79"/>
      <p:regular r:id="rId14"/>
    </p:embeddedFont>
    <p:embeddedFont>
      <p:font typeface="Cambria Math" panose="02040503050406030204" pitchFamily="18" charset="0"/>
      <p:regular r:id="rId15"/>
    </p:embeddedFont>
    <p:embeddedFont>
      <p:font typeface="Montserrat" panose="00000500000000000000" pitchFamily="2" charset="0"/>
      <p:regular r:id="rId16"/>
      <p:bold r:id="rId17"/>
      <p:italic r:id="rId18"/>
      <p:boldItalic r:id="rId19"/>
    </p:embeddedFont>
    <p:embeddedFont>
      <p:font typeface="Montserrat Bold" panose="00000800000000000000" charset="0"/>
      <p:regular r:id="rId20"/>
    </p:embeddedFont>
    <p:embeddedFont>
      <p:font typeface="Montserrat Italics"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47293" autoAdjust="0"/>
  </p:normalViewPr>
  <p:slideViewPr>
    <p:cSldViewPr>
      <p:cViewPr varScale="1">
        <p:scale>
          <a:sx n="20" d="100"/>
          <a:sy n="20" d="100"/>
        </p:scale>
        <p:origin x="2060" y="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שלום</a:t>
            </a:r>
            <a:r>
              <a:rPr lang="en-US" dirty="0"/>
              <a:t> </a:t>
            </a:r>
            <a:r>
              <a:rPr lang="en-US" dirty="0" err="1"/>
              <a:t>לכולם</a:t>
            </a:r>
            <a:r>
              <a:rPr lang="en-US" dirty="0"/>
              <a:t>, </a:t>
            </a:r>
            <a:r>
              <a:rPr lang="he-IL" dirty="0"/>
              <a:t>אני</a:t>
            </a:r>
            <a:r>
              <a:rPr lang="en-US" dirty="0"/>
              <a:t> ענבר </a:t>
            </a:r>
            <a:r>
              <a:rPr lang="en-US" dirty="0" err="1"/>
              <a:t>וזה</a:t>
            </a:r>
            <a:r>
              <a:rPr lang="en-US" dirty="0"/>
              <a:t> </a:t>
            </a:r>
            <a:r>
              <a:rPr lang="en-US" dirty="0" err="1"/>
              <a:t>דני</a:t>
            </a:r>
            <a:r>
              <a:rPr lang="en-US" dirty="0"/>
              <a:t>. </a:t>
            </a:r>
            <a:r>
              <a:rPr lang="en-US" dirty="0" err="1"/>
              <a:t>נציג</a:t>
            </a:r>
            <a:r>
              <a:rPr lang="en-US" dirty="0"/>
              <a:t> </a:t>
            </a:r>
            <a:r>
              <a:rPr lang="en-US" dirty="0" err="1"/>
              <a:t>לכם</a:t>
            </a:r>
            <a:r>
              <a:rPr lang="en-US" dirty="0"/>
              <a:t> </a:t>
            </a:r>
            <a:r>
              <a:rPr lang="en-US" dirty="0" err="1"/>
              <a:t>עכשיו</a:t>
            </a:r>
            <a:r>
              <a:rPr lang="en-US" dirty="0"/>
              <a:t> </a:t>
            </a:r>
            <a:r>
              <a:rPr lang="en-US" dirty="0" err="1"/>
              <a:t>את</a:t>
            </a:r>
            <a:r>
              <a:rPr lang="en-US" dirty="0"/>
              <a:t> </a:t>
            </a:r>
            <a:r>
              <a:rPr lang="en-US" dirty="0" err="1"/>
              <a:t>הפרויקט</a:t>
            </a:r>
            <a:r>
              <a:rPr lang="en-US" dirty="0"/>
              <a:t> </a:t>
            </a:r>
            <a:r>
              <a:rPr lang="en-US" dirty="0" err="1"/>
              <a:t>שלנו</a:t>
            </a:r>
            <a:r>
              <a:rPr lang="en-US" dirty="0"/>
              <a:t> </a:t>
            </a:r>
            <a:r>
              <a:rPr lang="en-US" dirty="0" err="1"/>
              <a:t>בנושא</a:t>
            </a:r>
            <a:r>
              <a:rPr lang="en-US" dirty="0"/>
              <a:t> Continual Learning. </a:t>
            </a:r>
            <a:r>
              <a:rPr lang="en-US" dirty="0" err="1"/>
              <a:t>בפרויקט</a:t>
            </a:r>
            <a:r>
              <a:rPr lang="en-US" dirty="0"/>
              <a:t> </a:t>
            </a:r>
            <a:r>
              <a:rPr lang="en-US" dirty="0" err="1"/>
              <a:t>חקרנו</a:t>
            </a:r>
            <a:r>
              <a:rPr lang="en-US" dirty="0"/>
              <a:t> </a:t>
            </a:r>
            <a:r>
              <a:rPr lang="en-US" dirty="0" err="1"/>
              <a:t>שיטות</a:t>
            </a:r>
            <a:r>
              <a:rPr lang="en-US" dirty="0"/>
              <a:t> </a:t>
            </a:r>
            <a:r>
              <a:rPr lang="en-US" dirty="0" err="1"/>
              <a:t>מתמטיות</a:t>
            </a:r>
            <a:r>
              <a:rPr lang="en-US" dirty="0"/>
              <a:t> </a:t>
            </a:r>
            <a:r>
              <a:rPr lang="en-US" dirty="0" err="1"/>
              <a:t>מתקדמות</a:t>
            </a:r>
            <a:r>
              <a:rPr lang="en-US" dirty="0"/>
              <a:t> </a:t>
            </a:r>
            <a:r>
              <a:rPr lang="en-US" dirty="0" err="1"/>
              <a:t>למניעת</a:t>
            </a:r>
            <a:r>
              <a:rPr lang="en-US" dirty="0"/>
              <a:t> </a:t>
            </a:r>
            <a:r>
              <a:rPr lang="en-US" dirty="0" err="1"/>
              <a:t>שכחה</a:t>
            </a:r>
            <a:r>
              <a:rPr lang="en-US" dirty="0"/>
              <a:t> </a:t>
            </a:r>
            <a:r>
              <a:rPr lang="en-US" dirty="0" err="1"/>
              <a:t>ברשתות</a:t>
            </a:r>
            <a:r>
              <a:rPr lang="en-US" dirty="0"/>
              <a:t> </a:t>
            </a:r>
            <a:r>
              <a:rPr lang="en-US" dirty="0" err="1"/>
              <a:t>עמוקות</a:t>
            </a:r>
            <a:r>
              <a:rPr lang="en-US" dirty="0"/>
              <a:t>, </a:t>
            </a:r>
            <a:r>
              <a:rPr lang="en-US" dirty="0" err="1"/>
              <a:t>תוך</a:t>
            </a:r>
            <a:r>
              <a:rPr lang="en-US" dirty="0"/>
              <a:t> </a:t>
            </a:r>
            <a:r>
              <a:rPr lang="en-US" dirty="0" err="1"/>
              <a:t>התמקדות</a:t>
            </a:r>
            <a:r>
              <a:rPr lang="en-US" dirty="0"/>
              <a:t> </a:t>
            </a:r>
            <a:r>
              <a:rPr lang="en-US" dirty="0" err="1"/>
              <a:t>בגישות</a:t>
            </a:r>
            <a:r>
              <a:rPr lang="en-US" dirty="0"/>
              <a:t> </a:t>
            </a:r>
            <a:r>
              <a:rPr lang="en-US" dirty="0" err="1"/>
              <a:t>שאינן</a:t>
            </a:r>
            <a:r>
              <a:rPr lang="en-US" dirty="0"/>
              <a:t> </a:t>
            </a:r>
            <a:r>
              <a:rPr lang="en-US" dirty="0" err="1"/>
              <a:t>דורשות</a:t>
            </a:r>
            <a:r>
              <a:rPr lang="en-US" dirty="0"/>
              <a:t> </a:t>
            </a:r>
            <a:r>
              <a:rPr lang="en-US" dirty="0" err="1"/>
              <a:t>שמירת</a:t>
            </a:r>
            <a:r>
              <a:rPr lang="en-US" dirty="0"/>
              <a:t> </a:t>
            </a:r>
            <a:r>
              <a:rPr lang="en-US" dirty="0" err="1"/>
              <a:t>דאטה</a:t>
            </a:r>
            <a:r>
              <a:rPr lang="en-US" dirty="0"/>
              <a:t> </a:t>
            </a:r>
            <a:r>
              <a:rPr lang="en-US" dirty="0" err="1"/>
              <a:t>ישן</a:t>
            </a:r>
            <a:r>
              <a:rPr lang="en-US" dirty="0"/>
              <a:t>, </a:t>
            </a:r>
            <a:r>
              <a:rPr lang="en-US" dirty="0" err="1"/>
              <a:t>ויישמנו</a:t>
            </a:r>
            <a:r>
              <a:rPr lang="en-US" dirty="0"/>
              <a:t> </a:t>
            </a:r>
            <a:r>
              <a:rPr lang="en-US" dirty="0" err="1"/>
              <a:t>אותן</a:t>
            </a:r>
            <a:r>
              <a:rPr lang="en-US" dirty="0"/>
              <a:t> </a:t>
            </a:r>
            <a:r>
              <a:rPr lang="en-US" dirty="0" err="1"/>
              <a:t>על</a:t>
            </a:r>
            <a:r>
              <a:rPr lang="en-US" dirty="0"/>
              <a:t> </a:t>
            </a:r>
            <a:r>
              <a:rPr lang="en-US" dirty="0" err="1"/>
              <a:t>מודל</a:t>
            </a:r>
            <a:r>
              <a:rPr lang="en-US" dirty="0"/>
              <a:t> </a:t>
            </a:r>
            <a:r>
              <a:rPr lang="en-US" dirty="0" err="1"/>
              <a:t>ResNet</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endParaRPr dirty="0"/>
          </a:p>
          <a:p>
            <a:pPr algn="r" rtl="1"/>
            <a:r>
              <a:rPr lang="en-US" dirty="0" err="1"/>
              <a:t>אז</a:t>
            </a:r>
            <a:r>
              <a:rPr lang="en-US" dirty="0"/>
              <a:t> </a:t>
            </a:r>
            <a:r>
              <a:rPr lang="en-US" dirty="0" err="1"/>
              <a:t>קודם</a:t>
            </a:r>
            <a:r>
              <a:rPr lang="en-US" dirty="0"/>
              <a:t> </a:t>
            </a:r>
            <a:r>
              <a:rPr lang="en-US" dirty="0" err="1"/>
              <a:t>כל</a:t>
            </a:r>
            <a:r>
              <a:rPr lang="en-US" dirty="0"/>
              <a:t> </a:t>
            </a:r>
            <a:r>
              <a:rPr lang="en-US" dirty="0" err="1"/>
              <a:t>נתחיל</a:t>
            </a:r>
            <a:r>
              <a:rPr lang="en-US" dirty="0"/>
              <a:t> </a:t>
            </a:r>
            <a:r>
              <a:rPr lang="en-US" dirty="0" err="1"/>
              <a:t>בלהבין</a:t>
            </a:r>
            <a:r>
              <a:rPr lang="en-US" dirty="0"/>
              <a:t> </a:t>
            </a:r>
            <a:r>
              <a:rPr lang="en-US" dirty="0" err="1"/>
              <a:t>מה</a:t>
            </a:r>
            <a:r>
              <a:rPr lang="en-US" dirty="0"/>
              <a:t> </a:t>
            </a:r>
            <a:r>
              <a:rPr lang="en-US" dirty="0" err="1"/>
              <a:t>זה</a:t>
            </a:r>
            <a:r>
              <a:rPr lang="en-US" dirty="0"/>
              <a:t> </a:t>
            </a:r>
            <a:r>
              <a:rPr lang="en-US" dirty="0" err="1"/>
              <a:t>בגלל</a:t>
            </a:r>
            <a:r>
              <a:rPr lang="en-US" dirty="0"/>
              <a:t> continual learning. </a:t>
            </a:r>
            <a:r>
              <a:rPr lang="en-US" dirty="0" err="1"/>
              <a:t>מדובר</a:t>
            </a:r>
            <a:r>
              <a:rPr lang="en-US" dirty="0"/>
              <a:t> </a:t>
            </a:r>
            <a:r>
              <a:rPr lang="en-US" dirty="0" err="1"/>
              <a:t>במצב</a:t>
            </a:r>
            <a:r>
              <a:rPr lang="en-US" dirty="0"/>
              <a:t> </a:t>
            </a:r>
            <a:r>
              <a:rPr lang="en-US" dirty="0" err="1"/>
              <a:t>בו</a:t>
            </a:r>
            <a:r>
              <a:rPr lang="en-US" dirty="0"/>
              <a:t> </a:t>
            </a:r>
            <a:r>
              <a:rPr lang="en-US" dirty="0" err="1"/>
              <a:t>יש</a:t>
            </a:r>
            <a:r>
              <a:rPr lang="en-US" dirty="0"/>
              <a:t> </a:t>
            </a:r>
            <a:r>
              <a:rPr lang="en-US" dirty="0" err="1"/>
              <a:t>לנו</a:t>
            </a:r>
            <a:r>
              <a:rPr lang="en-US" dirty="0"/>
              <a:t> </a:t>
            </a:r>
            <a:r>
              <a:rPr lang="en-US" dirty="0" err="1"/>
              <a:t>מודל</a:t>
            </a:r>
            <a:r>
              <a:rPr lang="en-US" dirty="0"/>
              <a:t> </a:t>
            </a:r>
            <a:r>
              <a:rPr lang="en-US" dirty="0" err="1"/>
              <a:t>שיודע</a:t>
            </a:r>
            <a:r>
              <a:rPr lang="en-US" dirty="0"/>
              <a:t> </a:t>
            </a:r>
            <a:r>
              <a:rPr lang="en-US" dirty="0" err="1"/>
              <a:t>לבצע</a:t>
            </a:r>
            <a:r>
              <a:rPr lang="en-US" dirty="0"/>
              <a:t> </a:t>
            </a:r>
            <a:r>
              <a:rPr lang="en-US" dirty="0" err="1"/>
              <a:t>משימה</a:t>
            </a:r>
            <a:r>
              <a:rPr lang="en-US" dirty="0"/>
              <a:t> </a:t>
            </a:r>
            <a:r>
              <a:rPr lang="en-US" dirty="0" err="1"/>
              <a:t>מסוימת</a:t>
            </a:r>
            <a:r>
              <a:rPr lang="en-US" dirty="0"/>
              <a:t>, </a:t>
            </a:r>
            <a:r>
              <a:rPr lang="en-US" dirty="0" err="1"/>
              <a:t>למשל</a:t>
            </a:r>
            <a:r>
              <a:rPr lang="en-US" dirty="0"/>
              <a:t>, </a:t>
            </a:r>
            <a:r>
              <a:rPr lang="en-US" dirty="0" err="1"/>
              <a:t>לסווג</a:t>
            </a:r>
            <a:r>
              <a:rPr lang="en-US" dirty="0"/>
              <a:t> </a:t>
            </a:r>
            <a:r>
              <a:rPr lang="en-US" dirty="0" err="1"/>
              <a:t>בין</a:t>
            </a:r>
            <a:r>
              <a:rPr lang="en-US" dirty="0"/>
              <a:t> </a:t>
            </a:r>
            <a:r>
              <a:rPr lang="en-US" dirty="0" err="1"/>
              <a:t>כמה</a:t>
            </a:r>
            <a:r>
              <a:rPr lang="en-US" dirty="0"/>
              <a:t> </a:t>
            </a:r>
            <a:r>
              <a:rPr lang="en-US" dirty="0" err="1"/>
              <a:t>מחלקות</a:t>
            </a:r>
            <a:r>
              <a:rPr lang="en-US" dirty="0"/>
              <a:t>, </a:t>
            </a:r>
            <a:r>
              <a:rPr lang="en-US" dirty="0" err="1"/>
              <a:t>ואנחנו</a:t>
            </a:r>
            <a:r>
              <a:rPr lang="en-US" dirty="0"/>
              <a:t> </a:t>
            </a:r>
            <a:r>
              <a:rPr lang="en-US" dirty="0" err="1"/>
              <a:t>רוצים</a:t>
            </a:r>
            <a:r>
              <a:rPr lang="en-US" dirty="0"/>
              <a:t> </a:t>
            </a:r>
            <a:r>
              <a:rPr lang="en-US" dirty="0" err="1"/>
              <a:t>להוסיף</a:t>
            </a:r>
            <a:r>
              <a:rPr lang="en-US" dirty="0"/>
              <a:t> </a:t>
            </a:r>
            <a:r>
              <a:rPr lang="en-US" dirty="0" err="1"/>
              <a:t>לו</a:t>
            </a:r>
            <a:r>
              <a:rPr lang="en-US" dirty="0"/>
              <a:t> </a:t>
            </a:r>
            <a:r>
              <a:rPr lang="en-US" dirty="0" err="1"/>
              <a:t>ידע</a:t>
            </a:r>
            <a:r>
              <a:rPr lang="en-US" dirty="0"/>
              <a:t> </a:t>
            </a:r>
            <a:r>
              <a:rPr lang="en-US" dirty="0" err="1"/>
              <a:t>וללמד</a:t>
            </a:r>
            <a:r>
              <a:rPr lang="en-US" dirty="0"/>
              <a:t> </a:t>
            </a:r>
            <a:r>
              <a:rPr lang="en-US" dirty="0" err="1"/>
              <a:t>אותו</a:t>
            </a:r>
            <a:r>
              <a:rPr lang="en-US" dirty="0"/>
              <a:t> </a:t>
            </a:r>
            <a:r>
              <a:rPr lang="en-US" dirty="0" err="1"/>
              <a:t>משימה</a:t>
            </a:r>
            <a:r>
              <a:rPr lang="en-US" dirty="0"/>
              <a:t> </a:t>
            </a:r>
            <a:r>
              <a:rPr lang="en-US" dirty="0" err="1"/>
              <a:t>חדשה</a:t>
            </a:r>
            <a:r>
              <a:rPr lang="en-US" dirty="0"/>
              <a:t>- </a:t>
            </a:r>
            <a:r>
              <a:rPr lang="en-US" dirty="0" err="1"/>
              <a:t>מבלי</a:t>
            </a:r>
            <a:r>
              <a:rPr lang="en-US" dirty="0"/>
              <a:t> </a:t>
            </a:r>
            <a:r>
              <a:rPr lang="en-US" dirty="0" err="1"/>
              <a:t>לשכוח</a:t>
            </a:r>
            <a:r>
              <a:rPr lang="en-US" dirty="0"/>
              <a:t> </a:t>
            </a:r>
            <a:r>
              <a:rPr lang="en-US" dirty="0" err="1"/>
              <a:t>את</a:t>
            </a:r>
            <a:r>
              <a:rPr lang="en-US" dirty="0"/>
              <a:t> </a:t>
            </a:r>
            <a:r>
              <a:rPr lang="en-US" dirty="0" err="1"/>
              <a:t>המשימה</a:t>
            </a:r>
            <a:r>
              <a:rPr lang="en-US" dirty="0"/>
              <a:t> </a:t>
            </a:r>
            <a:r>
              <a:rPr lang="en-US" dirty="0" err="1"/>
              <a:t>הקודמת</a:t>
            </a:r>
            <a:r>
              <a:rPr lang="en-US" dirty="0"/>
              <a:t> </a:t>
            </a:r>
            <a:r>
              <a:rPr lang="en-US" dirty="0" err="1"/>
              <a:t>שלמד</a:t>
            </a:r>
            <a:r>
              <a:rPr lang="en-US" dirty="0"/>
              <a:t> </a:t>
            </a:r>
            <a:r>
              <a:rPr lang="en-US" dirty="0" err="1"/>
              <a:t>ומבלי</a:t>
            </a:r>
            <a:r>
              <a:rPr lang="en-US" dirty="0"/>
              <a:t> </a:t>
            </a:r>
            <a:r>
              <a:rPr lang="en-US" dirty="0" err="1"/>
              <a:t>להצטרך</a:t>
            </a:r>
            <a:r>
              <a:rPr lang="en-US" dirty="0"/>
              <a:t> </a:t>
            </a:r>
            <a:r>
              <a:rPr lang="en-US" dirty="0" err="1"/>
              <a:t>לאמן</a:t>
            </a:r>
            <a:r>
              <a:rPr lang="en-US" dirty="0"/>
              <a:t> </a:t>
            </a:r>
            <a:r>
              <a:rPr lang="en-US" dirty="0" err="1"/>
              <a:t>אותו</a:t>
            </a:r>
            <a:r>
              <a:rPr lang="en-US" dirty="0"/>
              <a:t> </a:t>
            </a:r>
            <a:r>
              <a:rPr lang="en-US" dirty="0" err="1"/>
              <a:t>על</a:t>
            </a:r>
            <a:r>
              <a:rPr lang="en-US" dirty="0"/>
              <a:t> </a:t>
            </a:r>
            <a:r>
              <a:rPr lang="en-US" dirty="0" err="1"/>
              <a:t>הדאטה</a:t>
            </a:r>
            <a:r>
              <a:rPr lang="en-US" dirty="0"/>
              <a:t> </a:t>
            </a:r>
            <a:r>
              <a:rPr lang="en-US" dirty="0" err="1"/>
              <a:t>מהמשימה</a:t>
            </a:r>
            <a:r>
              <a:rPr lang="en-US" dirty="0"/>
              <a:t> </a:t>
            </a:r>
            <a:r>
              <a:rPr lang="en-US" dirty="0" err="1"/>
              <a:t>הקודמת</a:t>
            </a:r>
            <a:r>
              <a:rPr lang="en-US" dirty="0"/>
              <a:t> </a:t>
            </a:r>
            <a:r>
              <a:rPr lang="en-US" dirty="0" err="1"/>
              <a:t>שוב</a:t>
            </a:r>
            <a:r>
              <a:rPr lang="en-US" dirty="0"/>
              <a:t> </a:t>
            </a:r>
            <a:r>
              <a:rPr lang="en-US" dirty="0" err="1"/>
              <a:t>פעם</a:t>
            </a:r>
            <a:r>
              <a:rPr lang="en-US" dirty="0"/>
              <a:t> </a:t>
            </a:r>
            <a:r>
              <a:rPr lang="en-US" dirty="0" err="1"/>
              <a:t>יחד</a:t>
            </a:r>
            <a:r>
              <a:rPr lang="en-US" dirty="0"/>
              <a:t> </a:t>
            </a:r>
            <a:r>
              <a:rPr lang="en-US" dirty="0" err="1"/>
              <a:t>עם</a:t>
            </a:r>
            <a:r>
              <a:rPr lang="en-US" dirty="0"/>
              <a:t> </a:t>
            </a:r>
            <a:r>
              <a:rPr lang="en-US" dirty="0" err="1"/>
              <a:t>הדאטה</a:t>
            </a:r>
            <a:r>
              <a:rPr lang="en-US" dirty="0"/>
              <a:t> </a:t>
            </a:r>
            <a:r>
              <a:rPr lang="en-US" dirty="0" err="1"/>
              <a:t>מהמשימה</a:t>
            </a:r>
            <a:r>
              <a:rPr lang="en-US" dirty="0"/>
              <a:t> </a:t>
            </a:r>
            <a:r>
              <a:rPr lang="en-US" dirty="0" err="1"/>
              <a:t>החדשה</a:t>
            </a:r>
            <a:r>
              <a:rPr lang="en-US" dirty="0"/>
              <a:t>. </a:t>
            </a:r>
            <a:r>
              <a:rPr lang="en-US" dirty="0" err="1"/>
              <a:t>כלומר</a:t>
            </a:r>
            <a:r>
              <a:rPr lang="en-US" dirty="0"/>
              <a:t> </a:t>
            </a:r>
            <a:r>
              <a:rPr lang="en-US" dirty="0" err="1"/>
              <a:t>רוצים</a:t>
            </a:r>
            <a:r>
              <a:rPr lang="en-US" dirty="0"/>
              <a:t> </a:t>
            </a:r>
            <a:r>
              <a:rPr lang="en-US" dirty="0" err="1"/>
              <a:t>ללמד</a:t>
            </a:r>
            <a:r>
              <a:rPr lang="en-US" dirty="0"/>
              <a:t> </a:t>
            </a:r>
            <a:r>
              <a:rPr lang="en-US" dirty="0" err="1"/>
              <a:t>אותו</a:t>
            </a:r>
            <a:r>
              <a:rPr lang="en-US" dirty="0"/>
              <a:t> </a:t>
            </a:r>
            <a:r>
              <a:rPr lang="en-US" dirty="0" err="1"/>
              <a:t>משימות</a:t>
            </a:r>
            <a:r>
              <a:rPr lang="en-US" dirty="0"/>
              <a:t> </a:t>
            </a:r>
            <a:r>
              <a:rPr lang="en-US" dirty="0" err="1"/>
              <a:t>באופן</a:t>
            </a:r>
            <a:r>
              <a:rPr lang="en-US" dirty="0"/>
              <a:t> </a:t>
            </a:r>
            <a:r>
              <a:rPr lang="en-US" dirty="0" err="1"/>
              <a:t>סדרתי</a:t>
            </a:r>
            <a:r>
              <a:rPr lang="en-US" dirty="0"/>
              <a:t>.</a:t>
            </a:r>
          </a:p>
          <a:p>
            <a:pPr algn="r" rtl="1"/>
            <a:r>
              <a:rPr lang="en-US" dirty="0" err="1"/>
              <a:t>אז</a:t>
            </a:r>
            <a:r>
              <a:rPr lang="en-US" dirty="0"/>
              <a:t> </a:t>
            </a:r>
            <a:r>
              <a:rPr lang="en-US" dirty="0" err="1"/>
              <a:t>מה</a:t>
            </a:r>
            <a:r>
              <a:rPr lang="en-US" dirty="0"/>
              <a:t> </a:t>
            </a:r>
            <a:r>
              <a:rPr lang="en-US" dirty="0" err="1"/>
              <a:t>הבעיה</a:t>
            </a:r>
            <a:r>
              <a:rPr lang="en-US" dirty="0"/>
              <a:t> </a:t>
            </a:r>
            <a:r>
              <a:rPr lang="en-US" dirty="0" err="1"/>
              <a:t>שאנחנו</a:t>
            </a:r>
            <a:r>
              <a:rPr lang="en-US" dirty="0"/>
              <a:t> </a:t>
            </a:r>
            <a:r>
              <a:rPr lang="en-US" dirty="0" err="1"/>
              <a:t>מנסים</a:t>
            </a:r>
            <a:r>
              <a:rPr lang="en-US" dirty="0"/>
              <a:t> </a:t>
            </a:r>
            <a:r>
              <a:rPr lang="en-US" dirty="0" err="1"/>
              <a:t>לפתור</a:t>
            </a:r>
            <a:r>
              <a:rPr lang="en-US" dirty="0"/>
              <a:t>? </a:t>
            </a:r>
            <a:r>
              <a:rPr lang="en-US" dirty="0" err="1"/>
              <a:t>בניגוד</a:t>
            </a:r>
            <a:r>
              <a:rPr lang="en-US" dirty="0"/>
              <a:t> </a:t>
            </a:r>
            <a:r>
              <a:rPr lang="en-US" dirty="0" err="1"/>
              <a:t>לבני</a:t>
            </a:r>
            <a:r>
              <a:rPr lang="en-US" dirty="0"/>
              <a:t> </a:t>
            </a:r>
            <a:r>
              <a:rPr lang="en-US" dirty="0" err="1"/>
              <a:t>אדם</a:t>
            </a:r>
            <a:r>
              <a:rPr lang="en-US" dirty="0"/>
              <a:t>, </a:t>
            </a:r>
            <a:r>
              <a:rPr lang="en-US" dirty="0" err="1"/>
              <a:t>שיכולים</a:t>
            </a:r>
            <a:r>
              <a:rPr lang="en-US" dirty="0"/>
              <a:t> </a:t>
            </a:r>
            <a:r>
              <a:rPr lang="en-US" dirty="0" err="1"/>
              <a:t>ללמוד</a:t>
            </a:r>
            <a:r>
              <a:rPr lang="en-US" dirty="0"/>
              <a:t> </a:t>
            </a:r>
            <a:r>
              <a:rPr lang="en-US" dirty="0" err="1"/>
              <a:t>לרכוב</a:t>
            </a:r>
            <a:r>
              <a:rPr lang="en-US" dirty="0"/>
              <a:t> </a:t>
            </a:r>
            <a:r>
              <a:rPr lang="en-US" dirty="0" err="1"/>
              <a:t>על</a:t>
            </a:r>
            <a:r>
              <a:rPr lang="en-US" dirty="0"/>
              <a:t> </a:t>
            </a:r>
            <a:r>
              <a:rPr lang="en-US" dirty="0" err="1"/>
              <a:t>אופניים</a:t>
            </a:r>
            <a:r>
              <a:rPr lang="en-US" dirty="0"/>
              <a:t> </a:t>
            </a:r>
            <a:r>
              <a:rPr lang="en-US" dirty="0" err="1"/>
              <a:t>ואז</a:t>
            </a:r>
            <a:r>
              <a:rPr lang="en-US" dirty="0"/>
              <a:t> </a:t>
            </a:r>
            <a:r>
              <a:rPr lang="en-US" dirty="0" err="1"/>
              <a:t>ללמוד</a:t>
            </a:r>
            <a:r>
              <a:rPr lang="en-US" dirty="0"/>
              <a:t> </a:t>
            </a:r>
            <a:r>
              <a:rPr lang="en-US" dirty="0" err="1"/>
              <a:t>שחייה</a:t>
            </a:r>
            <a:r>
              <a:rPr lang="en-US" dirty="0"/>
              <a:t> </a:t>
            </a:r>
            <a:r>
              <a:rPr lang="en-US" dirty="0" err="1"/>
              <a:t>מבלי</a:t>
            </a:r>
            <a:r>
              <a:rPr lang="en-US" dirty="0"/>
              <a:t> </a:t>
            </a:r>
            <a:r>
              <a:rPr lang="en-US" dirty="0" err="1"/>
              <a:t>לשכוח</a:t>
            </a:r>
            <a:r>
              <a:rPr lang="en-US" dirty="0"/>
              <a:t> </a:t>
            </a:r>
            <a:r>
              <a:rPr lang="en-US" dirty="0" err="1"/>
              <a:t>איך</a:t>
            </a:r>
            <a:r>
              <a:rPr lang="en-US" dirty="0"/>
              <a:t> </a:t>
            </a:r>
            <a:r>
              <a:rPr lang="en-US" dirty="0" err="1"/>
              <a:t>לרכוב</a:t>
            </a:r>
            <a:r>
              <a:rPr lang="en-US" dirty="0"/>
              <a:t>, </a:t>
            </a:r>
            <a:r>
              <a:rPr lang="en-US" dirty="0" err="1"/>
              <a:t>רשתות</a:t>
            </a:r>
            <a:r>
              <a:rPr lang="en-US" dirty="0"/>
              <a:t> </a:t>
            </a:r>
            <a:r>
              <a:rPr lang="en-US" dirty="0" err="1"/>
              <a:t>נוירונים</a:t>
            </a:r>
            <a:r>
              <a:rPr lang="en-US" dirty="0"/>
              <a:t> </a:t>
            </a:r>
            <a:r>
              <a:rPr lang="en-US" dirty="0" err="1"/>
              <a:t>סובלות</a:t>
            </a:r>
            <a:r>
              <a:rPr lang="en-US" dirty="0"/>
              <a:t> </a:t>
            </a:r>
            <a:r>
              <a:rPr lang="en-US" dirty="0" err="1"/>
              <a:t>משכיחה</a:t>
            </a:r>
            <a:r>
              <a:rPr lang="en-US" dirty="0"/>
              <a:t> </a:t>
            </a:r>
            <a:r>
              <a:rPr lang="en-US" dirty="0" err="1"/>
              <a:t>קטסטרופלית</a:t>
            </a:r>
            <a:r>
              <a:rPr lang="he-IL" dirty="0"/>
              <a:t>.</a:t>
            </a:r>
            <a:r>
              <a:rPr lang="en-US" b="0" dirty="0"/>
              <a:t> </a:t>
            </a:r>
            <a:r>
              <a:rPr lang="en-US" b="1" dirty="0" err="1"/>
              <a:t>כשאנחנו</a:t>
            </a:r>
            <a:r>
              <a:rPr lang="en-US" b="1" dirty="0"/>
              <a:t> </a:t>
            </a:r>
            <a:r>
              <a:rPr lang="en-US" b="1" dirty="0" err="1"/>
              <a:t>מאמנים</a:t>
            </a:r>
            <a:r>
              <a:rPr lang="en-US" b="1" dirty="0"/>
              <a:t> </a:t>
            </a:r>
            <a:r>
              <a:rPr lang="en-US" b="1" dirty="0" err="1"/>
              <a:t>רשת</a:t>
            </a:r>
            <a:r>
              <a:rPr lang="en-US" dirty="0"/>
              <a:t> </a:t>
            </a:r>
            <a:r>
              <a:rPr lang="en-US" dirty="0" err="1"/>
              <a:t>על</a:t>
            </a:r>
            <a:r>
              <a:rPr lang="en-US" dirty="0"/>
              <a:t> </a:t>
            </a:r>
            <a:r>
              <a:rPr lang="en-US" dirty="0" err="1"/>
              <a:t>משימה</a:t>
            </a:r>
            <a:r>
              <a:rPr lang="en-US" dirty="0"/>
              <a:t> </a:t>
            </a:r>
            <a:r>
              <a:rPr lang="en-US" dirty="0" err="1"/>
              <a:t>חדשה</a:t>
            </a:r>
            <a:r>
              <a:rPr lang="en-US" dirty="0"/>
              <a:t>, </a:t>
            </a:r>
            <a:r>
              <a:rPr lang="en-US" dirty="0" err="1"/>
              <a:t>היא</a:t>
            </a:r>
            <a:r>
              <a:rPr lang="en-US" dirty="0"/>
              <a:t> </a:t>
            </a:r>
            <a:r>
              <a:rPr lang="en-US" dirty="0" err="1"/>
              <a:t>משנה</a:t>
            </a:r>
            <a:r>
              <a:rPr lang="en-US" dirty="0"/>
              <a:t> </a:t>
            </a:r>
            <a:r>
              <a:rPr lang="en-US" dirty="0" err="1"/>
              <a:t>את</a:t>
            </a:r>
            <a:r>
              <a:rPr lang="en-US" dirty="0"/>
              <a:t> </a:t>
            </a:r>
            <a:r>
              <a:rPr lang="en-US" dirty="0" err="1"/>
              <a:t>המשקלים</a:t>
            </a:r>
            <a:r>
              <a:rPr lang="en-US" dirty="0"/>
              <a:t> </a:t>
            </a:r>
            <a:r>
              <a:rPr lang="en-US" dirty="0" err="1"/>
              <a:t>שלה</a:t>
            </a:r>
            <a:r>
              <a:rPr lang="en-US" dirty="0"/>
              <a:t> </a:t>
            </a:r>
            <a:r>
              <a:rPr lang="en-US" dirty="0" err="1"/>
              <a:t>כדי</a:t>
            </a:r>
            <a:r>
              <a:rPr lang="en-US" dirty="0"/>
              <a:t> </a:t>
            </a:r>
            <a:r>
              <a:rPr lang="en-US" dirty="0" err="1"/>
              <a:t>להצליח</a:t>
            </a:r>
            <a:r>
              <a:rPr lang="en-US" dirty="0"/>
              <a:t> </a:t>
            </a:r>
            <a:r>
              <a:rPr lang="en-US" dirty="0" err="1"/>
              <a:t>בה</a:t>
            </a:r>
            <a:r>
              <a:rPr lang="en-US" dirty="0"/>
              <a:t>, </a:t>
            </a:r>
            <a:r>
              <a:rPr lang="en-US" dirty="0" err="1"/>
              <a:t>ובתהליך</a:t>
            </a:r>
            <a:r>
              <a:rPr lang="en-US" dirty="0"/>
              <a:t> </a:t>
            </a:r>
            <a:r>
              <a:rPr lang="en-US" dirty="0" err="1"/>
              <a:t>הזה</a:t>
            </a:r>
            <a:r>
              <a:rPr lang="en-US" dirty="0"/>
              <a:t> </a:t>
            </a:r>
            <a:r>
              <a:rPr lang="en-US" dirty="0" err="1"/>
              <a:t>היא</a:t>
            </a:r>
            <a:r>
              <a:rPr lang="en-US" dirty="0"/>
              <a:t> '</a:t>
            </a:r>
            <a:r>
              <a:rPr lang="en-US" dirty="0" err="1"/>
              <a:t>דורסת</a:t>
            </a:r>
            <a:r>
              <a:rPr lang="en-US" dirty="0"/>
              <a:t>' </a:t>
            </a:r>
            <a:r>
              <a:rPr lang="en-US" dirty="0" err="1"/>
              <a:t>את</a:t>
            </a:r>
            <a:r>
              <a:rPr lang="en-US" dirty="0"/>
              <a:t> </a:t>
            </a:r>
            <a:r>
              <a:rPr lang="en-US" dirty="0" err="1"/>
              <a:t>המידע</a:t>
            </a:r>
            <a:r>
              <a:rPr lang="en-US" dirty="0"/>
              <a:t> </a:t>
            </a:r>
            <a:r>
              <a:rPr lang="en-US" dirty="0" err="1"/>
              <a:t>שהיה</a:t>
            </a:r>
            <a:r>
              <a:rPr lang="en-US" dirty="0"/>
              <a:t> </a:t>
            </a:r>
            <a:r>
              <a:rPr lang="en-US" dirty="0" err="1"/>
              <a:t>חיוני</a:t>
            </a:r>
            <a:r>
              <a:rPr lang="en-US" dirty="0"/>
              <a:t> </a:t>
            </a:r>
            <a:r>
              <a:rPr lang="en-US" dirty="0" err="1"/>
              <a:t>למשימה</a:t>
            </a:r>
            <a:r>
              <a:rPr lang="en-US" dirty="0"/>
              <a:t> </a:t>
            </a:r>
            <a:r>
              <a:rPr lang="en-US" dirty="0" err="1"/>
              <a:t>הקודמת</a:t>
            </a:r>
            <a:r>
              <a:rPr lang="en-US" dirty="0"/>
              <a:t>. </a:t>
            </a:r>
            <a:r>
              <a:rPr lang="en-US" dirty="0" err="1"/>
              <a:t>היא</a:t>
            </a:r>
            <a:r>
              <a:rPr lang="en-US" dirty="0"/>
              <a:t> </a:t>
            </a:r>
            <a:r>
              <a:rPr lang="en-US" dirty="0" err="1"/>
              <a:t>בעצם</a:t>
            </a:r>
            <a:r>
              <a:rPr lang="en-US" dirty="0"/>
              <a:t> </a:t>
            </a:r>
            <a:r>
              <a:rPr lang="en-US" dirty="0" err="1"/>
              <a:t>ממזערת</a:t>
            </a:r>
            <a:r>
              <a:rPr lang="en-US" dirty="0"/>
              <a:t> </a:t>
            </a:r>
            <a:r>
              <a:rPr lang="en-US" dirty="0" err="1"/>
              <a:t>את</a:t>
            </a:r>
            <a:r>
              <a:rPr lang="en-US" dirty="0"/>
              <a:t> </a:t>
            </a:r>
            <a:r>
              <a:rPr lang="en-US" dirty="0" err="1"/>
              <a:t>הLOSS</a:t>
            </a:r>
            <a:r>
              <a:rPr lang="en-US" dirty="0"/>
              <a:t> </a:t>
            </a:r>
            <a:r>
              <a:rPr lang="en-US" dirty="0" err="1"/>
              <a:t>של</a:t>
            </a:r>
            <a:r>
              <a:rPr lang="en-US" dirty="0"/>
              <a:t> </a:t>
            </a:r>
            <a:r>
              <a:rPr lang="en-US" dirty="0" err="1"/>
              <a:t>המשימה</a:t>
            </a:r>
            <a:r>
              <a:rPr lang="en-US" dirty="0"/>
              <a:t> </a:t>
            </a:r>
            <a:r>
              <a:rPr lang="en-US" dirty="0" err="1"/>
              <a:t>החדשה</a:t>
            </a:r>
            <a:r>
              <a:rPr lang="en-US" dirty="0"/>
              <a:t>, </a:t>
            </a:r>
            <a:r>
              <a:rPr lang="en-US" dirty="0" err="1"/>
              <a:t>וזה</a:t>
            </a:r>
            <a:r>
              <a:rPr lang="en-US" dirty="0"/>
              <a:t> </a:t>
            </a:r>
            <a:r>
              <a:rPr lang="en-US" dirty="0" err="1"/>
              <a:t>גורם</a:t>
            </a:r>
            <a:r>
              <a:rPr lang="en-US" dirty="0"/>
              <a:t> </a:t>
            </a:r>
            <a:r>
              <a:rPr lang="en-US" dirty="0" err="1"/>
              <a:t>לLOSS</a:t>
            </a:r>
            <a:r>
              <a:rPr lang="en-US" dirty="0"/>
              <a:t> </a:t>
            </a:r>
            <a:r>
              <a:rPr lang="en-US" dirty="0" err="1"/>
              <a:t>של</a:t>
            </a:r>
            <a:r>
              <a:rPr lang="en-US" dirty="0"/>
              <a:t> </a:t>
            </a:r>
            <a:r>
              <a:rPr lang="en-US" dirty="0" err="1"/>
              <a:t>המשימה</a:t>
            </a:r>
            <a:r>
              <a:rPr lang="en-US" dirty="0"/>
              <a:t> </a:t>
            </a:r>
            <a:r>
              <a:rPr lang="en-US" dirty="0" err="1"/>
              <a:t>הקודמת</a:t>
            </a:r>
            <a:r>
              <a:rPr lang="en-US" dirty="0"/>
              <a:t> </a:t>
            </a:r>
            <a:r>
              <a:rPr lang="en-US" dirty="0" err="1"/>
              <a:t>לעלות</a:t>
            </a:r>
            <a:r>
              <a:rPr lang="en-US" dirty="0"/>
              <a:t>.</a:t>
            </a:r>
          </a:p>
          <a:p>
            <a:pPr algn="r" rtl="1"/>
            <a:endParaRPr lang="en-US" dirty="0"/>
          </a:p>
          <a:p>
            <a:pPr algn="r" rtl="1"/>
            <a:r>
              <a:rPr lang="en-US" dirty="0" err="1"/>
              <a:t>האתגר</a:t>
            </a:r>
            <a:r>
              <a:rPr lang="en-US" dirty="0"/>
              <a:t> </a:t>
            </a:r>
            <a:r>
              <a:rPr lang="en-US" dirty="0" err="1"/>
              <a:t>הגדול</a:t>
            </a:r>
            <a:r>
              <a:rPr lang="en-US" dirty="0"/>
              <a:t> </a:t>
            </a:r>
            <a:r>
              <a:rPr lang="en-US" dirty="0" err="1"/>
              <a:t>הוא</a:t>
            </a:r>
            <a:r>
              <a:rPr lang="en-US" dirty="0"/>
              <a:t> </a:t>
            </a:r>
            <a:r>
              <a:rPr lang="en-US" dirty="0" err="1"/>
              <a:t>האיזון</a:t>
            </a:r>
            <a:r>
              <a:rPr lang="en-US" dirty="0"/>
              <a:t>: </a:t>
            </a:r>
            <a:r>
              <a:rPr lang="en-US" dirty="0" err="1"/>
              <a:t>איך</a:t>
            </a:r>
            <a:r>
              <a:rPr lang="en-US" dirty="0"/>
              <a:t> </a:t>
            </a:r>
            <a:r>
              <a:rPr lang="en-US" dirty="0" err="1"/>
              <a:t>לאפשר</a:t>
            </a:r>
            <a:r>
              <a:rPr lang="en-US" dirty="0"/>
              <a:t> </a:t>
            </a:r>
            <a:r>
              <a:rPr lang="en-US" dirty="0" err="1"/>
              <a:t>לרשת</a:t>
            </a:r>
            <a:r>
              <a:rPr lang="en-US" dirty="0"/>
              <a:t> </a:t>
            </a:r>
            <a:r>
              <a:rPr lang="en-US" dirty="0" err="1"/>
              <a:t>ללמוד</a:t>
            </a:r>
            <a:r>
              <a:rPr lang="en-US" dirty="0"/>
              <a:t> </a:t>
            </a:r>
            <a:r>
              <a:rPr lang="en-US" dirty="0" err="1"/>
              <a:t>דברים</a:t>
            </a:r>
            <a:r>
              <a:rPr lang="en-US" dirty="0"/>
              <a:t> </a:t>
            </a:r>
            <a:r>
              <a:rPr lang="en-US" dirty="0" err="1"/>
              <a:t>חדשים</a:t>
            </a:r>
            <a:r>
              <a:rPr lang="en-US" dirty="0"/>
              <a:t> </a:t>
            </a:r>
            <a:r>
              <a:rPr lang="en-US" dirty="0" err="1"/>
              <a:t>כלומר</a:t>
            </a:r>
            <a:r>
              <a:rPr lang="en-US" dirty="0"/>
              <a:t> </a:t>
            </a:r>
            <a:r>
              <a:rPr lang="en-US" dirty="0" err="1"/>
              <a:t>להיות</a:t>
            </a:r>
            <a:r>
              <a:rPr lang="en-US" dirty="0"/>
              <a:t> </a:t>
            </a:r>
            <a:r>
              <a:rPr lang="en-US" dirty="0" err="1"/>
              <a:t>פלסטית</a:t>
            </a:r>
            <a:r>
              <a:rPr lang="en-US" dirty="0"/>
              <a:t> (Plasticity) </a:t>
            </a:r>
            <a:r>
              <a:rPr lang="en-US" dirty="0" err="1"/>
              <a:t>בלי</a:t>
            </a:r>
            <a:r>
              <a:rPr lang="en-US" dirty="0"/>
              <a:t> </a:t>
            </a:r>
            <a:r>
              <a:rPr lang="en-US" dirty="0" err="1"/>
              <a:t>לשבור</a:t>
            </a:r>
            <a:r>
              <a:rPr lang="en-US" dirty="0"/>
              <a:t> </a:t>
            </a:r>
            <a:r>
              <a:rPr lang="en-US" dirty="0" err="1"/>
              <a:t>את</a:t>
            </a:r>
            <a:r>
              <a:rPr lang="en-US" dirty="0"/>
              <a:t> </a:t>
            </a:r>
            <a:r>
              <a:rPr lang="en-US" dirty="0" err="1"/>
              <a:t>מה</a:t>
            </a:r>
            <a:r>
              <a:rPr lang="en-US" dirty="0"/>
              <a:t> </a:t>
            </a:r>
            <a:r>
              <a:rPr lang="en-US" dirty="0" err="1"/>
              <a:t>שהיא</a:t>
            </a:r>
            <a:r>
              <a:rPr lang="en-US" dirty="0"/>
              <a:t> </a:t>
            </a:r>
            <a:r>
              <a:rPr lang="en-US" dirty="0" err="1"/>
              <a:t>כבר</a:t>
            </a:r>
            <a:r>
              <a:rPr lang="en-US" dirty="0"/>
              <a:t> </a:t>
            </a:r>
            <a:r>
              <a:rPr lang="en-US" dirty="0" err="1"/>
              <a:t>יודעת</a:t>
            </a:r>
            <a:r>
              <a:rPr lang="en-US" dirty="0"/>
              <a:t> (Stability).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אז</a:t>
            </a:r>
            <a:r>
              <a:rPr lang="en-US" dirty="0"/>
              <a:t> </a:t>
            </a:r>
            <a:r>
              <a:rPr lang="en-US" dirty="0" err="1"/>
              <a:t>בשלב</a:t>
            </a:r>
            <a:r>
              <a:rPr lang="en-US" dirty="0"/>
              <a:t> </a:t>
            </a:r>
            <a:r>
              <a:rPr lang="en-US" dirty="0" err="1"/>
              <a:t>הזה</a:t>
            </a:r>
            <a:r>
              <a:rPr lang="en-US" dirty="0"/>
              <a:t> </a:t>
            </a:r>
            <a:r>
              <a:rPr lang="en-US" dirty="0" err="1"/>
              <a:t>יכול</a:t>
            </a:r>
            <a:r>
              <a:rPr lang="en-US" dirty="0"/>
              <a:t> </a:t>
            </a:r>
            <a:r>
              <a:rPr lang="en-US" dirty="0" err="1"/>
              <a:t>להיות</a:t>
            </a:r>
            <a:r>
              <a:rPr lang="en-US" dirty="0"/>
              <a:t> </a:t>
            </a:r>
            <a:r>
              <a:rPr lang="en-US" dirty="0" err="1"/>
              <a:t>שאתם</a:t>
            </a:r>
            <a:r>
              <a:rPr lang="en-US" dirty="0"/>
              <a:t> </a:t>
            </a:r>
            <a:r>
              <a:rPr lang="en-US" dirty="0" err="1"/>
              <a:t>שואלים</a:t>
            </a:r>
            <a:r>
              <a:rPr lang="en-US" dirty="0"/>
              <a:t> </a:t>
            </a:r>
            <a:r>
              <a:rPr lang="en-US" dirty="0" err="1"/>
              <a:t>את</a:t>
            </a:r>
            <a:r>
              <a:rPr lang="en-US" dirty="0"/>
              <a:t> </a:t>
            </a:r>
            <a:r>
              <a:rPr lang="en-US" dirty="0" err="1"/>
              <a:t>עצמכם</a:t>
            </a:r>
            <a:r>
              <a:rPr lang="en-US" dirty="0"/>
              <a:t> </a:t>
            </a:r>
            <a:r>
              <a:rPr lang="en-US" dirty="0" err="1"/>
              <a:t>למה</a:t>
            </a:r>
            <a:r>
              <a:rPr lang="en-US" dirty="0"/>
              <a:t> </a:t>
            </a:r>
            <a:r>
              <a:rPr lang="en-US" dirty="0" err="1"/>
              <a:t>לא</a:t>
            </a:r>
            <a:r>
              <a:rPr lang="en-US" dirty="0"/>
              <a:t> </a:t>
            </a:r>
            <a:r>
              <a:rPr lang="en-US" dirty="0" err="1"/>
              <a:t>פשוט</a:t>
            </a:r>
            <a:r>
              <a:rPr lang="en-US" dirty="0"/>
              <a:t> </a:t>
            </a:r>
            <a:r>
              <a:rPr lang="en-US" dirty="0" err="1"/>
              <a:t>לשמור</a:t>
            </a:r>
            <a:r>
              <a:rPr lang="en-US" dirty="0"/>
              <a:t> </a:t>
            </a:r>
            <a:r>
              <a:rPr lang="en-US" dirty="0" err="1"/>
              <a:t>את</a:t>
            </a:r>
            <a:r>
              <a:rPr lang="en-US" dirty="0"/>
              <a:t> </a:t>
            </a:r>
            <a:r>
              <a:rPr lang="en-US" dirty="0" err="1"/>
              <a:t>כל</a:t>
            </a:r>
            <a:r>
              <a:rPr lang="en-US" dirty="0"/>
              <a:t> </a:t>
            </a:r>
            <a:r>
              <a:rPr lang="en-US" dirty="0" err="1"/>
              <a:t>הדאטה</a:t>
            </a:r>
            <a:r>
              <a:rPr lang="en-US" dirty="0"/>
              <a:t> </a:t>
            </a:r>
            <a:r>
              <a:rPr lang="en-US" dirty="0" err="1"/>
              <a:t>ולאמן</a:t>
            </a:r>
            <a:r>
              <a:rPr lang="en-US" dirty="0"/>
              <a:t> </a:t>
            </a:r>
            <a:r>
              <a:rPr lang="en-US" dirty="0" err="1"/>
              <a:t>מחדש</a:t>
            </a:r>
            <a:r>
              <a:rPr lang="en-US" dirty="0"/>
              <a:t> </a:t>
            </a:r>
            <a:r>
              <a:rPr lang="en-US" dirty="0" err="1"/>
              <a:t>כל</a:t>
            </a:r>
            <a:r>
              <a:rPr lang="en-US" dirty="0"/>
              <a:t> </a:t>
            </a:r>
            <a:r>
              <a:rPr lang="en-US" dirty="0" err="1"/>
              <a:t>הזמן</a:t>
            </a:r>
            <a:r>
              <a:rPr lang="en-US" dirty="0"/>
              <a:t>? </a:t>
            </a:r>
            <a:r>
              <a:rPr lang="en-US" dirty="0" err="1"/>
              <a:t>אז</a:t>
            </a:r>
            <a:r>
              <a:rPr lang="en-US" dirty="0"/>
              <a:t> </a:t>
            </a:r>
            <a:r>
              <a:rPr lang="en-US" dirty="0" err="1"/>
              <a:t>יש</a:t>
            </a:r>
            <a:r>
              <a:rPr lang="en-US" dirty="0"/>
              <a:t> </a:t>
            </a:r>
            <a:r>
              <a:rPr lang="en-US" dirty="0" err="1"/>
              <a:t>לכך</a:t>
            </a:r>
            <a:r>
              <a:rPr lang="en-US" dirty="0"/>
              <a:t> </a:t>
            </a:r>
            <a:r>
              <a:rPr lang="en-US" dirty="0" err="1"/>
              <a:t>שתי</a:t>
            </a:r>
            <a:r>
              <a:rPr lang="en-US" dirty="0"/>
              <a:t> </a:t>
            </a:r>
            <a:r>
              <a:rPr lang="en-US" dirty="0" err="1"/>
              <a:t>סיבות</a:t>
            </a:r>
            <a:r>
              <a:rPr lang="en-US" dirty="0"/>
              <a:t> </a:t>
            </a:r>
            <a:r>
              <a:rPr lang="en-US" dirty="0" err="1"/>
              <a:t>עיקריות</a:t>
            </a:r>
            <a:r>
              <a:rPr lang="en-US" dirty="0"/>
              <a:t>. </a:t>
            </a:r>
            <a:r>
              <a:rPr lang="en-US" dirty="0" err="1"/>
              <a:t>הראשונה</a:t>
            </a:r>
            <a:r>
              <a:rPr lang="en-US" dirty="0"/>
              <a:t> </a:t>
            </a:r>
            <a:r>
              <a:rPr lang="en-US" dirty="0" err="1"/>
              <a:t>היא</a:t>
            </a:r>
            <a:r>
              <a:rPr lang="en-US" dirty="0"/>
              <a:t> </a:t>
            </a:r>
            <a:r>
              <a:rPr lang="en-US" dirty="0" err="1"/>
              <a:t>פרטיות</a:t>
            </a:r>
            <a:r>
              <a:rPr lang="en-US" dirty="0"/>
              <a:t> – </a:t>
            </a:r>
            <a:r>
              <a:rPr lang="en-US" dirty="0" err="1"/>
              <a:t>בעולמות</a:t>
            </a:r>
            <a:r>
              <a:rPr lang="en-US" dirty="0"/>
              <a:t> </a:t>
            </a:r>
            <a:r>
              <a:rPr lang="en-US" dirty="0" err="1"/>
              <a:t>כמו</a:t>
            </a:r>
            <a:r>
              <a:rPr lang="en-US" dirty="0"/>
              <a:t> </a:t>
            </a:r>
            <a:r>
              <a:rPr lang="en-US" dirty="0" err="1"/>
              <a:t>רפואה</a:t>
            </a:r>
            <a:r>
              <a:rPr lang="en-US" dirty="0"/>
              <a:t> </a:t>
            </a:r>
            <a:r>
              <a:rPr lang="en-US" dirty="0" err="1"/>
              <a:t>או</a:t>
            </a:r>
            <a:r>
              <a:rPr lang="en-US" dirty="0"/>
              <a:t> </a:t>
            </a:r>
            <a:r>
              <a:rPr lang="en-US" dirty="0" err="1"/>
              <a:t>פיננסים</a:t>
            </a:r>
            <a:r>
              <a:rPr lang="en-US" dirty="0"/>
              <a:t>, </a:t>
            </a:r>
            <a:r>
              <a:rPr lang="en-US" dirty="0" err="1"/>
              <a:t>אסור</a:t>
            </a:r>
            <a:r>
              <a:rPr lang="en-US" dirty="0"/>
              <a:t> </a:t>
            </a:r>
            <a:r>
              <a:rPr lang="en-US" dirty="0" err="1"/>
              <a:t>לנו</a:t>
            </a:r>
            <a:r>
              <a:rPr lang="en-US" dirty="0"/>
              <a:t> </a:t>
            </a:r>
            <a:r>
              <a:rPr lang="en-US" dirty="0" err="1"/>
              <a:t>לשמור</a:t>
            </a:r>
            <a:r>
              <a:rPr lang="en-US" dirty="0"/>
              <a:t> </a:t>
            </a:r>
            <a:r>
              <a:rPr lang="en-US" dirty="0" err="1"/>
              <a:t>דאטה</a:t>
            </a:r>
            <a:r>
              <a:rPr lang="en-US" dirty="0"/>
              <a:t> </a:t>
            </a:r>
            <a:r>
              <a:rPr lang="en-US" dirty="0" err="1"/>
              <a:t>של</a:t>
            </a:r>
            <a:r>
              <a:rPr lang="en-US" dirty="0"/>
              <a:t> </a:t>
            </a:r>
            <a:r>
              <a:rPr lang="en-US" dirty="0" err="1"/>
              <a:t>לקוחות</a:t>
            </a:r>
            <a:r>
              <a:rPr lang="en-US" dirty="0"/>
              <a:t> </a:t>
            </a:r>
            <a:r>
              <a:rPr lang="en-US" dirty="0" err="1"/>
              <a:t>לנצח</a:t>
            </a:r>
            <a:r>
              <a:rPr lang="en-US" dirty="0"/>
              <a:t> </a:t>
            </a:r>
            <a:r>
              <a:rPr lang="en-US" dirty="0" err="1"/>
              <a:t>בגלל</a:t>
            </a:r>
            <a:r>
              <a:rPr lang="en-US" dirty="0"/>
              <a:t> </a:t>
            </a:r>
            <a:r>
              <a:rPr lang="en-US" dirty="0" err="1"/>
              <a:t>רגולציות</a:t>
            </a:r>
            <a:r>
              <a:rPr lang="en-US" dirty="0"/>
              <a:t> (</a:t>
            </a:r>
            <a:r>
              <a:rPr lang="en-US" dirty="0" err="1"/>
              <a:t>כמו</a:t>
            </a:r>
            <a:r>
              <a:rPr lang="en-US" dirty="0"/>
              <a:t> GDPR). </a:t>
            </a:r>
            <a:r>
              <a:rPr lang="en-US" dirty="0" err="1"/>
              <a:t>הסיבה</a:t>
            </a:r>
            <a:r>
              <a:rPr lang="en-US" dirty="0"/>
              <a:t> </a:t>
            </a:r>
            <a:r>
              <a:rPr lang="en-US" dirty="0" err="1"/>
              <a:t>השנייה</a:t>
            </a:r>
            <a:r>
              <a:rPr lang="en-US" dirty="0"/>
              <a:t> </a:t>
            </a:r>
            <a:r>
              <a:rPr lang="en-US" dirty="0" err="1"/>
              <a:t>היא</a:t>
            </a:r>
            <a:r>
              <a:rPr lang="en-US" dirty="0"/>
              <a:t> </a:t>
            </a:r>
            <a:r>
              <a:rPr lang="en-US" dirty="0" err="1"/>
              <a:t>יעילות</a:t>
            </a:r>
            <a:r>
              <a:rPr lang="en-US" dirty="0"/>
              <a:t> – </a:t>
            </a:r>
            <a:r>
              <a:rPr lang="en-US" dirty="0" err="1"/>
              <a:t>אימון</a:t>
            </a:r>
            <a:r>
              <a:rPr lang="en-US" dirty="0"/>
              <a:t> </a:t>
            </a:r>
            <a:r>
              <a:rPr lang="en-US" dirty="0" err="1"/>
              <a:t>מחדש</a:t>
            </a:r>
            <a:r>
              <a:rPr lang="en-US" dirty="0"/>
              <a:t> </a:t>
            </a:r>
            <a:r>
              <a:rPr lang="en-US" dirty="0" err="1"/>
              <a:t>זה</a:t>
            </a:r>
            <a:r>
              <a:rPr lang="en-US" dirty="0"/>
              <a:t> </a:t>
            </a:r>
            <a:r>
              <a:rPr lang="en-US" dirty="0" err="1"/>
              <a:t>תהליך</a:t>
            </a:r>
            <a:r>
              <a:rPr lang="en-US" dirty="0"/>
              <a:t> </a:t>
            </a:r>
            <a:r>
              <a:rPr lang="en-US" dirty="0" err="1"/>
              <a:t>יקר</a:t>
            </a:r>
            <a:r>
              <a:rPr lang="en-US" dirty="0"/>
              <a:t> </a:t>
            </a:r>
            <a:r>
              <a:rPr lang="en-US" dirty="0" err="1"/>
              <a:t>ואיטי</a:t>
            </a:r>
            <a:r>
              <a:rPr lang="en-US" dirty="0"/>
              <a:t> </a:t>
            </a:r>
            <a:r>
              <a:rPr lang="en-US" dirty="0" err="1"/>
              <a:t>יותר</a:t>
            </a:r>
            <a:r>
              <a:rPr lang="en-US" dirty="0"/>
              <a:t> </a:t>
            </a:r>
            <a:r>
              <a:rPr lang="en-US" dirty="0" err="1"/>
              <a:t>ככל</a:t>
            </a:r>
            <a:r>
              <a:rPr lang="en-US" dirty="0"/>
              <a:t> </a:t>
            </a:r>
            <a:r>
              <a:rPr lang="en-US" dirty="0" err="1"/>
              <a:t>שיש</a:t>
            </a:r>
            <a:r>
              <a:rPr lang="en-US" dirty="0"/>
              <a:t> </a:t>
            </a:r>
            <a:r>
              <a:rPr lang="en-US" dirty="0" err="1"/>
              <a:t>יותר</a:t>
            </a:r>
            <a:r>
              <a:rPr lang="en-US" dirty="0"/>
              <a:t> </a:t>
            </a:r>
            <a:r>
              <a:rPr lang="en-US" dirty="0" err="1"/>
              <a:t>נתונים</a:t>
            </a:r>
            <a:r>
              <a:rPr lang="en-US" dirty="0"/>
              <a:t> </a:t>
            </a:r>
            <a:r>
              <a:rPr lang="en-US" dirty="0" err="1"/>
              <a:t>להתאמן</a:t>
            </a:r>
            <a:r>
              <a:rPr lang="en-US" dirty="0"/>
              <a:t> </a:t>
            </a:r>
            <a:r>
              <a:rPr lang="en-US" dirty="0" err="1"/>
              <a:t>עליהם</a:t>
            </a:r>
            <a:r>
              <a:rPr lang="en-US" dirty="0"/>
              <a:t>.</a:t>
            </a:r>
          </a:p>
          <a:p>
            <a:pPr algn="r" rtl="1"/>
            <a:r>
              <a:rPr lang="en-US" b="1" dirty="0" err="1"/>
              <a:t>לכן</a:t>
            </a:r>
            <a:r>
              <a:rPr lang="en-US" b="1" dirty="0"/>
              <a:t>, </a:t>
            </a:r>
            <a:r>
              <a:rPr lang="en-US" b="1" dirty="0" err="1"/>
              <a:t>המוטיבציה</a:t>
            </a:r>
            <a:r>
              <a:rPr lang="en-US" b="1" dirty="0"/>
              <a:t> </a:t>
            </a:r>
            <a:r>
              <a:rPr lang="en-US" b="1" dirty="0" err="1"/>
              <a:t>היא</a:t>
            </a:r>
            <a:r>
              <a:rPr lang="en-US" b="1" dirty="0"/>
              <a:t> </a:t>
            </a:r>
            <a:r>
              <a:rPr lang="en-US" b="1" dirty="0" err="1"/>
              <a:t>למצוא</a:t>
            </a:r>
            <a:r>
              <a:rPr lang="en-US" b="1" dirty="0"/>
              <a:t> </a:t>
            </a:r>
            <a:r>
              <a:rPr lang="en-US" b="1" dirty="0" err="1"/>
              <a:t>פתרון</a:t>
            </a:r>
            <a:r>
              <a:rPr lang="en-US" b="1" dirty="0"/>
              <a:t> </a:t>
            </a:r>
            <a:r>
              <a:rPr lang="en-US" b="1" dirty="0" err="1"/>
              <a:t>שהוא</a:t>
            </a:r>
            <a:r>
              <a:rPr lang="en-US" b="1" dirty="0"/>
              <a:t> Data-Free: </a:t>
            </a:r>
            <a:r>
              <a:rPr lang="en-US" b="1" dirty="0" err="1"/>
              <a:t>אנחנו</a:t>
            </a:r>
            <a:r>
              <a:rPr lang="en-US" b="1" dirty="0"/>
              <a:t> </a:t>
            </a:r>
            <a:r>
              <a:rPr lang="en-US" b="1" dirty="0" err="1"/>
              <a:t>רוצים</a:t>
            </a:r>
            <a:r>
              <a:rPr lang="en-US" b="1" dirty="0"/>
              <a:t> </a:t>
            </a:r>
            <a:r>
              <a:rPr lang="en-US" b="1" dirty="0" err="1"/>
              <a:t>למנוע</a:t>
            </a:r>
            <a:r>
              <a:rPr lang="en-US" b="1" dirty="0"/>
              <a:t> </a:t>
            </a:r>
            <a:r>
              <a:rPr lang="en-US" b="1" dirty="0" err="1"/>
              <a:t>שכחה</a:t>
            </a:r>
            <a:r>
              <a:rPr lang="en-US" b="1" dirty="0"/>
              <a:t> </a:t>
            </a:r>
            <a:r>
              <a:rPr lang="en-US" b="1" dirty="0" err="1"/>
              <a:t>על</a:t>
            </a:r>
            <a:r>
              <a:rPr lang="en-US" b="1" dirty="0"/>
              <a:t> </a:t>
            </a:r>
            <a:r>
              <a:rPr lang="en-US" b="1" dirty="0" err="1"/>
              <a:t>ידי</a:t>
            </a:r>
            <a:r>
              <a:rPr lang="en-US" b="1" dirty="0"/>
              <a:t> </a:t>
            </a:r>
            <a:r>
              <a:rPr lang="en-US" b="1" dirty="0" err="1"/>
              <a:t>הסתכלות</a:t>
            </a:r>
            <a:r>
              <a:rPr lang="en-US" b="1" dirty="0"/>
              <a:t> </a:t>
            </a:r>
            <a:r>
              <a:rPr lang="en-US" b="1" dirty="0" err="1"/>
              <a:t>על</a:t>
            </a:r>
            <a:r>
              <a:rPr lang="en-US" b="1" dirty="0"/>
              <a:t> '</a:t>
            </a:r>
            <a:r>
              <a:rPr lang="en-US" b="1" dirty="0" err="1"/>
              <a:t>המוח</a:t>
            </a:r>
            <a:r>
              <a:rPr lang="en-US" b="1" dirty="0"/>
              <a:t>' </a:t>
            </a:r>
            <a:r>
              <a:rPr lang="en-US" b="1" dirty="0" err="1"/>
              <a:t>של</a:t>
            </a:r>
            <a:r>
              <a:rPr lang="en-US" b="1" dirty="0"/>
              <a:t> </a:t>
            </a:r>
            <a:r>
              <a:rPr lang="en-US" b="1" dirty="0" err="1"/>
              <a:t>המודל</a:t>
            </a:r>
            <a:r>
              <a:rPr lang="en-US" b="1" dirty="0"/>
              <a:t>, </a:t>
            </a:r>
            <a:r>
              <a:rPr lang="en-US" b="1" dirty="0" err="1"/>
              <a:t>כלומר</a:t>
            </a:r>
            <a:r>
              <a:rPr lang="en-US" b="1" dirty="0"/>
              <a:t> </a:t>
            </a:r>
            <a:r>
              <a:rPr lang="en-US" b="1" dirty="0" err="1"/>
              <a:t>המשקלים</a:t>
            </a:r>
            <a:r>
              <a:rPr lang="en-US" b="1" dirty="0"/>
              <a:t> </a:t>
            </a:r>
            <a:r>
              <a:rPr lang="en-US" b="1" dirty="0" err="1"/>
              <a:t>בלבד</a:t>
            </a:r>
            <a:r>
              <a:rPr lang="en-US" b="1" dirty="0"/>
              <a:t>, </a:t>
            </a:r>
            <a:r>
              <a:rPr lang="en-US" b="1" dirty="0" err="1"/>
              <a:t>מבלי</a:t>
            </a:r>
            <a:r>
              <a:rPr lang="en-US" b="1" dirty="0"/>
              <a:t> </a:t>
            </a:r>
            <a:r>
              <a:rPr lang="en-US" b="1" dirty="0" err="1"/>
              <a:t>להציץ</a:t>
            </a:r>
            <a:r>
              <a:rPr lang="en-US" b="1" dirty="0"/>
              <a:t> </a:t>
            </a:r>
            <a:r>
              <a:rPr lang="en-US" b="1" dirty="0" err="1"/>
              <a:t>בדאטה</a:t>
            </a:r>
            <a:r>
              <a:rPr lang="en-US" b="1" dirty="0"/>
              <a:t> </a:t>
            </a:r>
            <a:r>
              <a:rPr lang="en-US" b="1" dirty="0" err="1"/>
              <a:t>הישן</a:t>
            </a:r>
            <a:r>
              <a:rPr lang="en-US" b="1"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endParaRPr dirty="0"/>
          </a:p>
          <a:p>
            <a:pPr algn="r" rtl="1"/>
            <a:r>
              <a:rPr lang="en-US" dirty="0" err="1"/>
              <a:t>ההשראה</a:t>
            </a:r>
            <a:r>
              <a:rPr lang="en-US" dirty="0"/>
              <a:t> </a:t>
            </a:r>
            <a:r>
              <a:rPr lang="en-US" dirty="0" err="1"/>
              <a:t>לפרויקט</a:t>
            </a:r>
            <a:r>
              <a:rPr lang="en-US" dirty="0"/>
              <a:t> </a:t>
            </a:r>
            <a:r>
              <a:rPr lang="en-US" dirty="0" err="1"/>
              <a:t>מגיעה</a:t>
            </a:r>
            <a:r>
              <a:rPr lang="en-US" dirty="0"/>
              <a:t> </a:t>
            </a:r>
            <a:r>
              <a:rPr lang="en-US" dirty="0" err="1"/>
              <a:t>ממאמר</a:t>
            </a:r>
            <a:r>
              <a:rPr lang="en-US" dirty="0"/>
              <a:t> </a:t>
            </a:r>
            <a:r>
              <a:rPr lang="en-US" dirty="0" err="1"/>
              <a:t>חדש</a:t>
            </a:r>
            <a:r>
              <a:rPr lang="en-US" dirty="0"/>
              <a:t> </a:t>
            </a:r>
            <a:r>
              <a:rPr lang="en-US" dirty="0" err="1"/>
              <a:t>מהשנה</a:t>
            </a:r>
            <a:r>
              <a:rPr lang="en-US" dirty="0"/>
              <a:t> </a:t>
            </a:r>
            <a:r>
              <a:rPr lang="en-US" dirty="0" err="1"/>
              <a:t>האחרונה</a:t>
            </a:r>
            <a:r>
              <a:rPr lang="en-US" dirty="0"/>
              <a:t> </a:t>
            </a:r>
            <a:r>
              <a:rPr lang="en-US" dirty="0" err="1"/>
              <a:t>בש</a:t>
            </a:r>
            <a:r>
              <a:rPr lang="he-IL" dirty="0"/>
              <a:t>ם </a:t>
            </a:r>
            <a:r>
              <a:rPr lang="en-US" dirty="0"/>
              <a:t>'Sculpting Subspaces’</a:t>
            </a:r>
            <a:r>
              <a:rPr lang="he-IL" dirty="0"/>
              <a:t>. </a:t>
            </a:r>
            <a:r>
              <a:rPr lang="en-US" dirty="0" err="1"/>
              <a:t>החוקרים</a:t>
            </a:r>
            <a:r>
              <a:rPr lang="he-IL" dirty="0"/>
              <a:t> </a:t>
            </a:r>
            <a:r>
              <a:rPr lang="en-US" dirty="0" err="1"/>
              <a:t>שם</a:t>
            </a:r>
            <a:r>
              <a:rPr lang="en-US" dirty="0"/>
              <a:t> </a:t>
            </a:r>
            <a:r>
              <a:rPr lang="en-US" dirty="0" err="1"/>
              <a:t>הציעו</a:t>
            </a:r>
            <a:r>
              <a:rPr lang="en-US" dirty="0"/>
              <a:t> </a:t>
            </a:r>
            <a:r>
              <a:rPr lang="en-US" dirty="0" err="1"/>
              <a:t>רעיו</a:t>
            </a:r>
            <a:r>
              <a:rPr lang="he-IL" dirty="0"/>
              <a:t>ן חכם</a:t>
            </a:r>
            <a:r>
              <a:rPr lang="en-US" dirty="0"/>
              <a:t> </a:t>
            </a:r>
            <a:r>
              <a:rPr lang="en-US" dirty="0" err="1"/>
              <a:t>עבור</a:t>
            </a:r>
            <a:r>
              <a:rPr lang="en-US" dirty="0"/>
              <a:t> </a:t>
            </a:r>
            <a:r>
              <a:rPr lang="en-US" dirty="0" err="1"/>
              <a:t>מודלי</a:t>
            </a:r>
            <a:r>
              <a:rPr lang="en-US" dirty="0"/>
              <a:t> </a:t>
            </a:r>
            <a:r>
              <a:rPr lang="en-US" dirty="0" err="1"/>
              <a:t>שפה</a:t>
            </a:r>
            <a:r>
              <a:rPr lang="en-US" dirty="0"/>
              <a:t> </a:t>
            </a:r>
            <a:r>
              <a:rPr lang="en-US" dirty="0" err="1"/>
              <a:t>ענקיים</a:t>
            </a:r>
            <a:r>
              <a:rPr lang="en-US" dirty="0"/>
              <a:t>, </a:t>
            </a:r>
            <a:r>
              <a:rPr lang="en-US" dirty="0" err="1"/>
              <a:t>שהוא</a:t>
            </a:r>
            <a:r>
              <a:rPr lang="en-US" dirty="0"/>
              <a:t> </a:t>
            </a:r>
            <a:r>
              <a:rPr lang="en-US" dirty="0" err="1"/>
              <a:t>למצוא</a:t>
            </a:r>
            <a:r>
              <a:rPr lang="en-US" dirty="0"/>
              <a:t> </a:t>
            </a:r>
            <a:r>
              <a:rPr lang="en-US" dirty="0" err="1"/>
              <a:t>מתמטית</a:t>
            </a:r>
            <a:r>
              <a:rPr lang="en-US" dirty="0"/>
              <a:t> </a:t>
            </a:r>
            <a:r>
              <a:rPr lang="en-US" dirty="0" err="1"/>
              <a:t>את</a:t>
            </a:r>
            <a:r>
              <a:rPr lang="en-US" dirty="0"/>
              <a:t> </a:t>
            </a:r>
            <a:r>
              <a:rPr lang="en-US" dirty="0" err="1"/>
              <a:t>כיווני</a:t>
            </a:r>
            <a:r>
              <a:rPr lang="en-US" dirty="0"/>
              <a:t> </a:t>
            </a:r>
            <a:r>
              <a:rPr lang="en-US" dirty="0" err="1"/>
              <a:t>המשקלים</a:t>
            </a:r>
            <a:r>
              <a:rPr lang="en-US" dirty="0"/>
              <a:t> </a:t>
            </a:r>
            <a:r>
              <a:rPr lang="en-US" dirty="0" err="1"/>
              <a:t>החשובים</a:t>
            </a:r>
            <a:r>
              <a:rPr lang="en-US" dirty="0"/>
              <a:t> </a:t>
            </a:r>
            <a:r>
              <a:rPr lang="en-US" dirty="0" err="1"/>
              <a:t>לידע</a:t>
            </a:r>
            <a:r>
              <a:rPr lang="en-US" dirty="0"/>
              <a:t> </a:t>
            </a:r>
            <a:r>
              <a:rPr lang="en-US" dirty="0" err="1"/>
              <a:t>הקיים</a:t>
            </a:r>
            <a:r>
              <a:rPr lang="en-US" dirty="0"/>
              <a:t>, </a:t>
            </a:r>
            <a:r>
              <a:rPr lang="en-US" dirty="0" err="1"/>
              <a:t>ולהקפיא</a:t>
            </a:r>
            <a:r>
              <a:rPr lang="en-US" dirty="0"/>
              <a:t> </a:t>
            </a:r>
            <a:r>
              <a:rPr lang="en-US" dirty="0" err="1"/>
              <a:t>אותם</a:t>
            </a:r>
            <a:r>
              <a:rPr lang="en-US" dirty="0"/>
              <a:t> </a:t>
            </a:r>
            <a:r>
              <a:rPr lang="en-US" dirty="0" err="1"/>
              <a:t>בתהליך</a:t>
            </a:r>
            <a:r>
              <a:rPr lang="en-US" dirty="0"/>
              <a:t> </a:t>
            </a:r>
            <a:r>
              <a:rPr lang="en-US" dirty="0" err="1"/>
              <a:t>הלמידה</a:t>
            </a:r>
            <a:r>
              <a:rPr lang="en-US" dirty="0"/>
              <a:t> </a:t>
            </a:r>
            <a:r>
              <a:rPr lang="en-US" dirty="0" err="1"/>
              <a:t>של</a:t>
            </a:r>
            <a:r>
              <a:rPr lang="en-US" dirty="0"/>
              <a:t> </a:t>
            </a:r>
            <a:r>
              <a:rPr lang="en-US" dirty="0" err="1"/>
              <a:t>המשימה</a:t>
            </a:r>
            <a:r>
              <a:rPr lang="en-US" dirty="0"/>
              <a:t> </a:t>
            </a:r>
            <a:r>
              <a:rPr lang="en-US" dirty="0" err="1"/>
              <a:t>החדשה</a:t>
            </a:r>
            <a:r>
              <a:rPr lang="en-US" dirty="0"/>
              <a:t>, </a:t>
            </a:r>
            <a:r>
              <a:rPr lang="en-US" dirty="0" err="1"/>
              <a:t>ובעצם</a:t>
            </a:r>
            <a:r>
              <a:rPr lang="en-US" dirty="0"/>
              <a:t> </a:t>
            </a:r>
            <a:r>
              <a:rPr lang="en-US" dirty="0" err="1"/>
              <a:t>לגרום</a:t>
            </a:r>
            <a:r>
              <a:rPr lang="en-US" dirty="0"/>
              <a:t> </a:t>
            </a:r>
            <a:r>
              <a:rPr lang="en-US" dirty="0" err="1"/>
              <a:t>לכך</a:t>
            </a:r>
            <a:r>
              <a:rPr lang="en-US" dirty="0"/>
              <a:t> </a:t>
            </a:r>
            <a:r>
              <a:rPr lang="en-US" dirty="0" err="1"/>
              <a:t>שהמשימה</a:t>
            </a:r>
            <a:r>
              <a:rPr lang="en-US" dirty="0"/>
              <a:t> </a:t>
            </a:r>
            <a:r>
              <a:rPr lang="en-US" dirty="0" err="1"/>
              <a:t>החדשה</a:t>
            </a:r>
            <a:r>
              <a:rPr lang="en-US" dirty="0"/>
              <a:t> </a:t>
            </a:r>
            <a:r>
              <a:rPr lang="en-US" dirty="0" err="1"/>
              <a:t>נלמדת</a:t>
            </a:r>
            <a:r>
              <a:rPr lang="en-US" dirty="0"/>
              <a:t> </a:t>
            </a:r>
            <a:r>
              <a:rPr lang="en-US" dirty="0" err="1"/>
              <a:t>רק</a:t>
            </a:r>
            <a:r>
              <a:rPr lang="en-US" dirty="0"/>
              <a:t> </a:t>
            </a:r>
            <a:r>
              <a:rPr lang="en-US" dirty="0" err="1"/>
              <a:t>על</a:t>
            </a:r>
            <a:r>
              <a:rPr lang="en-US" dirty="0"/>
              <a:t> </a:t>
            </a:r>
            <a:r>
              <a:rPr lang="en-US" dirty="0" err="1"/>
              <a:t>ידי</a:t>
            </a:r>
            <a:r>
              <a:rPr lang="en-US" dirty="0"/>
              <a:t> </a:t>
            </a:r>
            <a:r>
              <a:rPr lang="en-US" dirty="0" err="1"/>
              <a:t>שינוי</a:t>
            </a:r>
            <a:r>
              <a:rPr lang="en-US" dirty="0"/>
              <a:t> </a:t>
            </a:r>
            <a:r>
              <a:rPr lang="en-US" dirty="0" err="1"/>
              <a:t>המשקולות</a:t>
            </a:r>
            <a:r>
              <a:rPr lang="en-US" dirty="0"/>
              <a:t> </a:t>
            </a:r>
            <a:r>
              <a:rPr lang="en-US" dirty="0" err="1"/>
              <a:t>בכיוונים</a:t>
            </a:r>
            <a:r>
              <a:rPr lang="en-US" dirty="0"/>
              <a:t> </a:t>
            </a:r>
            <a:r>
              <a:rPr lang="en-US" dirty="0" err="1"/>
              <a:t>הפנויים</a:t>
            </a:r>
            <a:r>
              <a:rPr lang="en-US" dirty="0"/>
              <a:t>. </a:t>
            </a:r>
          </a:p>
          <a:p>
            <a:pPr algn="r" rtl="1"/>
            <a:endParaRPr lang="en-US" dirty="0"/>
          </a:p>
          <a:p>
            <a:pPr algn="r" rtl="1"/>
            <a:r>
              <a:rPr lang="en-US" dirty="0" err="1"/>
              <a:t>אנחנו</a:t>
            </a:r>
            <a:r>
              <a:rPr lang="en-US" dirty="0"/>
              <a:t> </a:t>
            </a:r>
            <a:r>
              <a:rPr lang="en-US" dirty="0" err="1"/>
              <a:t>לקחנו</a:t>
            </a:r>
            <a:r>
              <a:rPr lang="en-US" dirty="0"/>
              <a:t> </a:t>
            </a:r>
            <a:r>
              <a:rPr lang="en-US" dirty="0" err="1"/>
              <a:t>את</a:t>
            </a:r>
            <a:r>
              <a:rPr lang="en-US" dirty="0"/>
              <a:t> </a:t>
            </a:r>
            <a:r>
              <a:rPr lang="en-US" dirty="0" err="1"/>
              <a:t>הרעיון</a:t>
            </a:r>
            <a:r>
              <a:rPr lang="en-US" dirty="0"/>
              <a:t> </a:t>
            </a:r>
            <a:r>
              <a:rPr lang="en-US" dirty="0" err="1"/>
              <a:t>הזה</a:t>
            </a:r>
            <a:r>
              <a:rPr lang="en-US" dirty="0"/>
              <a:t>, </a:t>
            </a:r>
            <a:r>
              <a:rPr lang="en-US" dirty="0" err="1"/>
              <a:t>ורצינו</a:t>
            </a:r>
            <a:r>
              <a:rPr lang="en-US" dirty="0"/>
              <a:t> </a:t>
            </a:r>
            <a:r>
              <a:rPr lang="en-US" dirty="0" err="1"/>
              <a:t>לבדוק</a:t>
            </a:r>
            <a:r>
              <a:rPr lang="en-US" dirty="0"/>
              <a:t> </a:t>
            </a:r>
            <a:r>
              <a:rPr lang="en-US" dirty="0" err="1"/>
              <a:t>אם</a:t>
            </a:r>
            <a:r>
              <a:rPr lang="en-US" dirty="0"/>
              <a:t> </a:t>
            </a:r>
            <a:r>
              <a:rPr lang="en-US" dirty="0" err="1"/>
              <a:t>ואיך</a:t>
            </a:r>
            <a:r>
              <a:rPr lang="en-US" dirty="0"/>
              <a:t> </a:t>
            </a:r>
            <a:r>
              <a:rPr lang="en-US" dirty="0" err="1"/>
              <a:t>הוא</a:t>
            </a:r>
            <a:r>
              <a:rPr lang="en-US" dirty="0"/>
              <a:t> </a:t>
            </a:r>
            <a:r>
              <a:rPr lang="en-US" dirty="0" err="1"/>
              <a:t>עובד</a:t>
            </a:r>
            <a:r>
              <a:rPr lang="en-US" dirty="0"/>
              <a:t> </a:t>
            </a:r>
            <a:r>
              <a:rPr lang="en-US" dirty="0" err="1"/>
              <a:t>בעולם</a:t>
            </a:r>
            <a:r>
              <a:rPr lang="en-US" dirty="0"/>
              <a:t> </a:t>
            </a:r>
            <a:r>
              <a:rPr lang="he-IL" dirty="0"/>
              <a:t>עיבוד התמונה,</a:t>
            </a:r>
            <a:endParaRPr lang="en-US" dirty="0"/>
          </a:p>
          <a:p>
            <a:pPr algn="r" rtl="1"/>
            <a:r>
              <a:rPr lang="en-US" dirty="0" err="1"/>
              <a:t>ובנוסף</a:t>
            </a:r>
            <a:r>
              <a:rPr lang="en-US" dirty="0"/>
              <a:t> </a:t>
            </a:r>
            <a:r>
              <a:rPr lang="en-US" dirty="0" err="1"/>
              <a:t>לזה</a:t>
            </a:r>
            <a:r>
              <a:rPr lang="en-US" dirty="0"/>
              <a:t> </a:t>
            </a:r>
            <a:r>
              <a:rPr lang="en-US" dirty="0" err="1"/>
              <a:t>החלטנו</a:t>
            </a:r>
            <a:r>
              <a:rPr lang="en-US" dirty="0"/>
              <a:t> </a:t>
            </a:r>
            <a:r>
              <a:rPr lang="en-US" dirty="0" err="1"/>
              <a:t>להוסיף</a:t>
            </a:r>
            <a:r>
              <a:rPr lang="en-US" dirty="0"/>
              <a:t> </a:t>
            </a:r>
            <a:r>
              <a:rPr lang="en-US" dirty="0" err="1"/>
              <a:t>טוויסט</a:t>
            </a:r>
            <a:r>
              <a:rPr lang="he-IL" dirty="0"/>
              <a:t>.</a:t>
            </a:r>
            <a:r>
              <a:rPr lang="en-US" dirty="0"/>
              <a:t> </a:t>
            </a:r>
            <a:r>
              <a:rPr lang="en-US" dirty="0" err="1"/>
              <a:t>זיהינו</a:t>
            </a:r>
            <a:r>
              <a:rPr lang="en-US" dirty="0"/>
              <a:t> ש</a:t>
            </a:r>
            <a:r>
              <a:rPr lang="he-IL" dirty="0"/>
              <a:t>-</a:t>
            </a:r>
            <a:r>
              <a:rPr lang="en-US" dirty="0"/>
              <a:t>SVD</a:t>
            </a:r>
            <a:r>
              <a:rPr lang="he-IL" dirty="0"/>
              <a:t>, ש</a:t>
            </a:r>
            <a:r>
              <a:rPr lang="en-US" dirty="0" err="1"/>
              <a:t>זאת</a:t>
            </a:r>
            <a:r>
              <a:rPr lang="en-US" dirty="0"/>
              <a:t> </a:t>
            </a:r>
            <a:r>
              <a:rPr lang="en-US" dirty="0" err="1"/>
              <a:t>השיטה</a:t>
            </a:r>
            <a:r>
              <a:rPr lang="en-US" dirty="0"/>
              <a:t> </a:t>
            </a:r>
            <a:r>
              <a:rPr lang="en-US" dirty="0" err="1"/>
              <a:t>שבה</a:t>
            </a:r>
            <a:r>
              <a:rPr lang="en-US" dirty="0"/>
              <a:t> </a:t>
            </a:r>
            <a:r>
              <a:rPr lang="en-US" dirty="0" err="1"/>
              <a:t>השתמשו</a:t>
            </a:r>
            <a:r>
              <a:rPr lang="en-US" dirty="0"/>
              <a:t> </a:t>
            </a:r>
            <a:r>
              <a:rPr lang="en-US" dirty="0" err="1"/>
              <a:t>במאמר</a:t>
            </a:r>
            <a:r>
              <a:rPr lang="en-US" dirty="0"/>
              <a:t> </a:t>
            </a:r>
            <a:r>
              <a:rPr lang="en-US" dirty="0" err="1"/>
              <a:t>היא</a:t>
            </a:r>
            <a:r>
              <a:rPr lang="en-US" dirty="0"/>
              <a:t> </a:t>
            </a:r>
            <a:r>
              <a:rPr lang="en-US" dirty="0" err="1"/>
              <a:t>פעולה</a:t>
            </a:r>
            <a:r>
              <a:rPr lang="en-US" dirty="0"/>
              <a:t> </a:t>
            </a:r>
            <a:r>
              <a:rPr lang="en-US" dirty="0" err="1"/>
              <a:t>מתמטית</a:t>
            </a:r>
            <a:r>
              <a:rPr lang="en-US" dirty="0"/>
              <a:t> '</a:t>
            </a:r>
            <a:r>
              <a:rPr lang="en-US" dirty="0" err="1"/>
              <a:t>יקרה</a:t>
            </a:r>
            <a:r>
              <a:rPr lang="en-US" dirty="0"/>
              <a:t>' </a:t>
            </a:r>
            <a:r>
              <a:rPr lang="en-US" dirty="0" err="1"/>
              <a:t>מאוד</a:t>
            </a:r>
            <a:r>
              <a:rPr lang="en-US" dirty="0"/>
              <a:t> </a:t>
            </a:r>
            <a:r>
              <a:rPr lang="en-US" dirty="0" err="1"/>
              <a:t>מבחינת</a:t>
            </a:r>
            <a:r>
              <a:rPr lang="en-US" dirty="0"/>
              <a:t> </a:t>
            </a:r>
            <a:r>
              <a:rPr lang="en-US" dirty="0" err="1"/>
              <a:t>זמן</a:t>
            </a:r>
            <a:r>
              <a:rPr lang="en-US" dirty="0"/>
              <a:t> </a:t>
            </a:r>
            <a:r>
              <a:rPr lang="en-US" dirty="0" err="1"/>
              <a:t>חישו</a:t>
            </a:r>
            <a:r>
              <a:rPr lang="he-IL" dirty="0"/>
              <a:t>ב,</a:t>
            </a:r>
            <a:r>
              <a:rPr lang="en-US" dirty="0"/>
              <a:t> </a:t>
            </a:r>
            <a:r>
              <a:rPr lang="he-IL" dirty="0"/>
              <a:t>ו</a:t>
            </a:r>
            <a:r>
              <a:rPr lang="en-US" dirty="0" err="1"/>
              <a:t>לכן</a:t>
            </a:r>
            <a:r>
              <a:rPr lang="en-US" dirty="0"/>
              <a:t> </a:t>
            </a:r>
            <a:r>
              <a:rPr lang="en-US" dirty="0" err="1"/>
              <a:t>מטרת</a:t>
            </a:r>
            <a:r>
              <a:rPr lang="en-US" dirty="0"/>
              <a:t> </a:t>
            </a:r>
            <a:r>
              <a:rPr lang="en-US" dirty="0" err="1"/>
              <a:t>העל</a:t>
            </a:r>
            <a:r>
              <a:rPr lang="en-US" dirty="0"/>
              <a:t> </a:t>
            </a:r>
            <a:r>
              <a:rPr lang="en-US" dirty="0" err="1"/>
              <a:t>שלנו</a:t>
            </a:r>
            <a:r>
              <a:rPr lang="en-US" dirty="0"/>
              <a:t> </a:t>
            </a:r>
            <a:r>
              <a:rPr lang="en-US" dirty="0" err="1"/>
              <a:t>לא</a:t>
            </a:r>
            <a:r>
              <a:rPr lang="en-US" dirty="0"/>
              <a:t> </a:t>
            </a:r>
            <a:r>
              <a:rPr lang="en-US" dirty="0" err="1"/>
              <a:t>הייתה</a:t>
            </a:r>
            <a:r>
              <a:rPr lang="en-US" dirty="0"/>
              <a:t> </a:t>
            </a:r>
            <a:r>
              <a:rPr lang="en-US" dirty="0" err="1"/>
              <a:t>רק</a:t>
            </a:r>
            <a:r>
              <a:rPr lang="en-US" dirty="0"/>
              <a:t> </a:t>
            </a:r>
            <a:r>
              <a:rPr lang="en-US" dirty="0" err="1"/>
              <a:t>למנוע</a:t>
            </a:r>
            <a:r>
              <a:rPr lang="en-US" dirty="0"/>
              <a:t> </a:t>
            </a:r>
            <a:r>
              <a:rPr lang="en-US" dirty="0" err="1"/>
              <a:t>שכחה</a:t>
            </a:r>
            <a:r>
              <a:rPr lang="he-IL" dirty="0"/>
              <a:t>, </a:t>
            </a:r>
            <a:r>
              <a:rPr lang="en-US" dirty="0" err="1"/>
              <a:t>אלא</a:t>
            </a:r>
            <a:r>
              <a:rPr lang="en-US" dirty="0"/>
              <a:t> </a:t>
            </a:r>
            <a:r>
              <a:rPr lang="en-US" dirty="0" err="1"/>
              <a:t>למצוא</a:t>
            </a:r>
            <a:r>
              <a:rPr lang="en-US" dirty="0"/>
              <a:t> </a:t>
            </a:r>
            <a:r>
              <a:rPr lang="en-US" dirty="0" err="1"/>
              <a:t>את</a:t>
            </a:r>
            <a:r>
              <a:rPr lang="en-US" dirty="0"/>
              <a:t> </a:t>
            </a:r>
            <a:r>
              <a:rPr lang="en-US" dirty="0" err="1"/>
              <a:t>האלגוריתם</a:t>
            </a:r>
            <a:r>
              <a:rPr lang="en-US" dirty="0"/>
              <a:t> </a:t>
            </a:r>
            <a:r>
              <a:rPr lang="en-US" dirty="0" err="1"/>
              <a:t>היעיל</a:t>
            </a:r>
            <a:r>
              <a:rPr lang="en-US" dirty="0"/>
              <a:t> </a:t>
            </a:r>
            <a:r>
              <a:rPr lang="en-US" dirty="0" err="1"/>
              <a:t>ביותר</a:t>
            </a:r>
            <a:r>
              <a:rPr lang="en-US" dirty="0"/>
              <a:t> </a:t>
            </a:r>
            <a:r>
              <a:rPr lang="en-US" dirty="0" err="1"/>
              <a:t>למשימה</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lgn="r" rtl="1"/>
            <a:r>
              <a:rPr lang="he-IL" sz="1200" kern="1200" dirty="0">
                <a:solidFill>
                  <a:schemeClr val="tx1"/>
                </a:solidFill>
                <a:effectLst/>
                <a:latin typeface="+mn-lt"/>
                <a:ea typeface="+mn-ea"/>
                <a:cs typeface="+mn-cs"/>
              </a:rPr>
              <a:t>אז איך מוצאים את אותם 'כיוונים חשובים'? הכלי המרכזי שבו השתמשו במאמר הוא פירוק מטריצות בשם</a:t>
            </a:r>
            <a:r>
              <a:rPr lang="en-US" sz="1200" kern="1200" dirty="0">
                <a:solidFill>
                  <a:schemeClr val="tx1"/>
                </a:solidFill>
                <a:effectLst/>
                <a:latin typeface="+mn-lt"/>
                <a:ea typeface="+mn-ea"/>
                <a:cs typeface="+mn-cs"/>
              </a:rPr>
              <a:t> SVD </a:t>
            </a:r>
            <a:r>
              <a:rPr lang="he-IL" sz="1200" kern="1200" dirty="0">
                <a:solidFill>
                  <a:schemeClr val="tx1"/>
                </a:solidFill>
                <a:effectLst/>
                <a:latin typeface="+mn-lt"/>
                <a:ea typeface="+mn-ea"/>
                <a:cs typeface="+mn-cs"/>
              </a:rPr>
              <a:t>שבו אנחנו לוקחים את מטריצת המשקלים ומפרקים אותה ל-3 מטריצות. בשביל לא להיכנס עמוק מידי לאלגברה לינארית,</a:t>
            </a:r>
            <a:r>
              <a:rPr lang="he-IL" sz="1200" b="1" kern="1200" dirty="0">
                <a:solidFill>
                  <a:schemeClr val="tx1"/>
                </a:solidFill>
                <a:effectLst/>
                <a:latin typeface="+mn-lt"/>
                <a:ea typeface="+mn-ea"/>
                <a:cs typeface="+mn-cs"/>
              </a:rPr>
              <a:t> מה שהכי חשוב לדעת זה שמטריצה </a:t>
            </a:r>
            <a:r>
              <a:rPr lang="en-US" sz="1200" b="1" kern="1200" dirty="0">
                <a:solidFill>
                  <a:schemeClr val="tx1"/>
                </a:solidFill>
                <a:effectLst/>
                <a:latin typeface="+mn-lt"/>
                <a:ea typeface="+mn-ea"/>
                <a:cs typeface="+mn-cs"/>
              </a:rPr>
              <a:t>V </a:t>
            </a:r>
            <a:r>
              <a:rPr lang="he-IL" sz="1200" b="1" kern="1200" dirty="0">
                <a:solidFill>
                  <a:schemeClr val="tx1"/>
                </a:solidFill>
                <a:effectLst/>
                <a:latin typeface="+mn-lt"/>
                <a:ea typeface="+mn-ea"/>
                <a:cs typeface="+mn-cs"/>
              </a:rPr>
              <a:t>היא מעין קירוב להתפלגות הנתונים בדאטה המקורי, בהתבסס על הנחה שהמשקולות </a:t>
            </a:r>
            <a:r>
              <a:rPr lang="en-US" sz="1200" b="1" kern="1200" dirty="0">
                <a:solidFill>
                  <a:schemeClr val="tx1"/>
                </a:solidFill>
                <a:effectLst/>
                <a:latin typeface="+mn-lt"/>
                <a:ea typeface="+mn-ea"/>
                <a:cs typeface="+mn-cs"/>
              </a:rPr>
              <a:t>W </a:t>
            </a:r>
            <a:r>
              <a:rPr lang="he-IL" sz="1200" b="1" kern="1200" dirty="0">
                <a:solidFill>
                  <a:schemeClr val="tx1"/>
                </a:solidFill>
                <a:effectLst/>
                <a:latin typeface="+mn-lt"/>
                <a:ea typeface="+mn-ea"/>
                <a:cs typeface="+mn-cs"/>
              </a:rPr>
              <a:t>התעצבו "בדמות הנתונים של משימה </a:t>
            </a:r>
            <a:r>
              <a:rPr lang="en-US" sz="1200" b="1" kern="1200" dirty="0">
                <a:solidFill>
                  <a:schemeClr val="tx1"/>
                </a:solidFill>
                <a:effectLst/>
                <a:latin typeface="+mn-lt"/>
                <a:ea typeface="+mn-ea"/>
                <a:cs typeface="+mn-cs"/>
              </a:rPr>
              <a:t>A</a:t>
            </a:r>
            <a:r>
              <a:rPr lang="he-IL" sz="1200" b="1" kern="1200" dirty="0">
                <a:solidFill>
                  <a:schemeClr val="tx1"/>
                </a:solidFill>
                <a:effectLst/>
                <a:latin typeface="+mn-lt"/>
                <a:ea typeface="+mn-ea"/>
                <a:cs typeface="+mn-cs"/>
              </a:rPr>
              <a:t>. היא מעין מייצגת את ה"זיכרון" של הרשת למשימה הראשונה.</a:t>
            </a:r>
            <a:r>
              <a:rPr lang="he-IL" sz="1200" kern="1200" dirty="0">
                <a:solidFill>
                  <a:schemeClr val="tx1"/>
                </a:solidFill>
                <a:effectLst/>
                <a:latin typeface="+mn-lt"/>
                <a:ea typeface="+mn-ea"/>
                <a:cs typeface="+mn-cs"/>
              </a:rPr>
              <a:t> זו מטריצה מנורמלת כלומר היא מייצגת רק את הכיוונים. מטריצה</a:t>
            </a:r>
            <a:r>
              <a:rPr lang="en-US" sz="1200" kern="1200" dirty="0">
                <a:solidFill>
                  <a:schemeClr val="tx1"/>
                </a:solidFill>
                <a:effectLst/>
                <a:latin typeface="+mn-lt"/>
                <a:ea typeface="+mn-ea"/>
                <a:cs typeface="+mn-cs"/>
              </a:rPr>
              <a:t> Sigma </a:t>
            </a:r>
            <a:r>
              <a:rPr lang="he-IL" sz="1200" kern="1200" dirty="0">
                <a:solidFill>
                  <a:schemeClr val="tx1"/>
                </a:solidFill>
                <a:effectLst/>
                <a:latin typeface="+mn-lt"/>
                <a:ea typeface="+mn-ea"/>
                <a:cs typeface="+mn-cs"/>
              </a:rPr>
              <a:t>משלימה את התמונה ומייצגת את החשיבות של הכיוונים האלו ומסודרת מהגדול לקטן. הרכיבים עם הערכים הגבוהים מייצגים את הכיוונים החשובים ביותר שבהם אסור לגעת והרכיבים עם הערכים הנמוכים או האפסיים מייצגים את ה-</a:t>
            </a:r>
            <a:r>
              <a:rPr lang="en-US" sz="1200" kern="1200" dirty="0">
                <a:solidFill>
                  <a:schemeClr val="tx1"/>
                </a:solidFill>
                <a:effectLst/>
                <a:latin typeface="+mn-lt"/>
                <a:ea typeface="+mn-ea"/>
                <a:cs typeface="+mn-cs"/>
              </a:rPr>
              <a:t>Null Space</a:t>
            </a:r>
            <a:r>
              <a:rPr lang="he-IL" sz="1200" kern="1200" dirty="0">
                <a:solidFill>
                  <a:schemeClr val="tx1"/>
                </a:solidFill>
                <a:effectLst/>
                <a:latin typeface="+mn-lt"/>
                <a:ea typeface="+mn-ea"/>
                <a:cs typeface="+mn-cs"/>
              </a:rPr>
              <a:t> שזה המרחב שבו אפשר לשנות משקלים בלי לפגוע בביצועים של המשימה הקודמת.</a:t>
            </a:r>
            <a:endParaRPr lang="en-US" sz="1200" kern="1200" dirty="0">
              <a:solidFill>
                <a:schemeClr val="tx1"/>
              </a:solidFill>
              <a:effectLst/>
              <a:latin typeface="+mn-lt"/>
              <a:ea typeface="+mn-ea"/>
              <a:cs typeface="+mn-cs"/>
            </a:endParaRPr>
          </a:p>
          <a:p>
            <a:pPr lvl="0" algn="r" rtl="1"/>
            <a:endParaRPr lang="he-IL" sz="1200" kern="1200" dirty="0">
              <a:solidFill>
                <a:schemeClr val="tx1"/>
              </a:solidFill>
              <a:effectLst/>
              <a:latin typeface="+mn-lt"/>
              <a:ea typeface="+mn-ea"/>
              <a:cs typeface="+mn-cs"/>
            </a:endParaRPr>
          </a:p>
          <a:p>
            <a:pPr lvl="0" algn="r" rtl="1"/>
            <a:r>
              <a:rPr lang="he-IL" sz="1200" kern="1200" dirty="0">
                <a:solidFill>
                  <a:schemeClr val="tx1"/>
                </a:solidFill>
                <a:effectLst/>
                <a:latin typeface="+mn-lt"/>
                <a:ea typeface="+mn-ea"/>
                <a:cs typeface="+mn-cs"/>
              </a:rPr>
              <a:t>המטרה שלנו היא להטיל את הלמידה החדשה רק לתוך המרחב הפנוי הזה.</a:t>
            </a:r>
            <a:endParaRPr lang="en-US" sz="1200" kern="1200" dirty="0">
              <a:solidFill>
                <a:schemeClr val="tx1"/>
              </a:solidFill>
              <a:effectLst/>
              <a:latin typeface="+mn-lt"/>
              <a:ea typeface="+mn-ea"/>
              <a:cs typeface="+mn-cs"/>
            </a:endParaRPr>
          </a:p>
          <a:p>
            <a:pPr algn="r" rtl="1"/>
            <a:endParaRPr lang="en-US" sz="1200" kern="1200" dirty="0">
              <a:solidFill>
                <a:schemeClr val="tx1"/>
              </a:solidFill>
              <a:effectLst/>
              <a:latin typeface="+mn-lt"/>
              <a:ea typeface="+mn-ea"/>
              <a:cs typeface="+mn-cs"/>
            </a:endParaRPr>
          </a:p>
          <a:p>
            <a:pPr algn="r" rtl="1"/>
            <a:r>
              <a:rPr lang="he-IL" sz="1200" kern="1200" dirty="0">
                <a:solidFill>
                  <a:schemeClr val="tx1"/>
                </a:solidFill>
                <a:effectLst/>
                <a:latin typeface="+mn-lt"/>
                <a:ea typeface="+mn-ea"/>
                <a:cs typeface="+mn-cs"/>
              </a:rPr>
              <a:t>במאמר השתמשו </a:t>
            </a:r>
            <a:r>
              <a:rPr lang="en-US" sz="1200" kern="1200" dirty="0">
                <a:solidFill>
                  <a:schemeClr val="tx1"/>
                </a:solidFill>
                <a:effectLst/>
                <a:latin typeface="+mn-lt"/>
                <a:ea typeface="+mn-ea"/>
                <a:cs typeface="+mn-cs"/>
              </a:rPr>
              <a:t>Adaptive SVD</a:t>
            </a:r>
            <a:r>
              <a:rPr lang="he-IL" sz="1200" kern="1200" dirty="0">
                <a:solidFill>
                  <a:schemeClr val="tx1"/>
                </a:solidFill>
                <a:effectLst/>
                <a:latin typeface="+mn-lt"/>
                <a:ea typeface="+mn-ea"/>
                <a:cs typeface="+mn-cs"/>
              </a:rPr>
              <a:t> ששם השינוי הוא שנוסף פרמטר שאומר כמה השכבה חשובה לעומת שכבות אחרות, בהתבסס על גודל המשקלים בכל שכבה, ובשכבות חשובות יותר שומרים יותר מידע ובשכבות חשובות פחות שומרים פחות מידע.</a:t>
            </a:r>
            <a:endParaRPr lang="en-US" sz="1200" kern="1200" dirty="0">
              <a:solidFill>
                <a:schemeClr val="tx1"/>
              </a:solidFill>
              <a:effectLst/>
              <a:latin typeface="+mn-lt"/>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אז</a:t>
            </a:r>
            <a:r>
              <a:rPr lang="en-US" dirty="0"/>
              <a:t> </a:t>
            </a:r>
            <a:r>
              <a:rPr lang="en-US" dirty="0" err="1"/>
              <a:t>כמו</a:t>
            </a:r>
            <a:r>
              <a:rPr lang="en-US" dirty="0"/>
              <a:t> </a:t>
            </a:r>
            <a:r>
              <a:rPr lang="en-US" dirty="0" err="1"/>
              <a:t>שאמרנו</a:t>
            </a:r>
            <a:r>
              <a:rPr lang="en-US" dirty="0"/>
              <a:t> </a:t>
            </a:r>
            <a:r>
              <a:rPr lang="en-US" dirty="0" err="1"/>
              <a:t>המטרה</a:t>
            </a:r>
            <a:r>
              <a:rPr lang="en-US" dirty="0"/>
              <a:t> </a:t>
            </a:r>
            <a:r>
              <a:rPr lang="en-US" dirty="0" err="1"/>
              <a:t>העיקרית</a:t>
            </a:r>
            <a:r>
              <a:rPr lang="en-US" dirty="0"/>
              <a:t> </a:t>
            </a:r>
            <a:r>
              <a:rPr lang="en-US" dirty="0" err="1"/>
              <a:t>היא</a:t>
            </a:r>
            <a:r>
              <a:rPr lang="en-US" dirty="0"/>
              <a:t> </a:t>
            </a:r>
            <a:r>
              <a:rPr lang="en-US" dirty="0" err="1"/>
              <a:t>לראות</a:t>
            </a:r>
            <a:r>
              <a:rPr lang="en-US" dirty="0"/>
              <a:t> </a:t>
            </a:r>
            <a:r>
              <a:rPr lang="en-US" dirty="0" err="1"/>
              <a:t>האם</a:t>
            </a:r>
            <a:r>
              <a:rPr lang="en-US" dirty="0"/>
              <a:t> </a:t>
            </a:r>
            <a:r>
              <a:rPr lang="en-US" dirty="0" err="1"/>
              <a:t>ניתן</a:t>
            </a:r>
            <a:r>
              <a:rPr lang="en-US" dirty="0"/>
              <a:t> </a:t>
            </a:r>
            <a:r>
              <a:rPr lang="en-US" dirty="0" err="1"/>
              <a:t>למנוע</a:t>
            </a:r>
            <a:r>
              <a:rPr lang="en-US" dirty="0"/>
              <a:t> </a:t>
            </a:r>
            <a:r>
              <a:rPr lang="en-US" dirty="0" err="1"/>
              <a:t>שכיחה</a:t>
            </a:r>
            <a:r>
              <a:rPr lang="en-US" dirty="0"/>
              <a:t> </a:t>
            </a:r>
            <a:r>
              <a:rPr lang="en-US" dirty="0" err="1"/>
              <a:t>עם</a:t>
            </a:r>
            <a:r>
              <a:rPr lang="en-US" dirty="0"/>
              <a:t> SVD </a:t>
            </a:r>
            <a:r>
              <a:rPr lang="en-US" dirty="0" err="1"/>
              <a:t>גם</a:t>
            </a:r>
            <a:r>
              <a:rPr lang="en-US" dirty="0"/>
              <a:t> </a:t>
            </a:r>
            <a:r>
              <a:rPr lang="en-US" dirty="0" err="1"/>
              <a:t>ברשתות</a:t>
            </a:r>
            <a:r>
              <a:rPr lang="en-US" dirty="0"/>
              <a:t> </a:t>
            </a:r>
            <a:r>
              <a:rPr lang="en-US" dirty="0" err="1"/>
              <a:t>קונבולוציה</a:t>
            </a:r>
            <a:r>
              <a:rPr lang="en-US" dirty="0"/>
              <a:t>, </a:t>
            </a:r>
            <a:r>
              <a:rPr lang="en-US" dirty="0" err="1"/>
              <a:t>אבל</a:t>
            </a:r>
            <a:r>
              <a:rPr lang="en-US" dirty="0"/>
              <a:t> </a:t>
            </a:r>
            <a:r>
              <a:rPr lang="en-US" dirty="0" err="1"/>
              <a:t>מכיוון</a:t>
            </a:r>
            <a:r>
              <a:rPr lang="en-US" dirty="0"/>
              <a:t> </a:t>
            </a:r>
            <a:r>
              <a:rPr lang="en-US" dirty="0" err="1"/>
              <a:t>שSVD</a:t>
            </a:r>
            <a:r>
              <a:rPr lang="en-US" dirty="0"/>
              <a:t> </a:t>
            </a:r>
            <a:r>
              <a:rPr lang="en-US" dirty="0" err="1"/>
              <a:t>הוא</a:t>
            </a:r>
            <a:r>
              <a:rPr lang="en-US" dirty="0"/>
              <a:t> </a:t>
            </a:r>
            <a:r>
              <a:rPr lang="en-US" dirty="0" err="1"/>
              <a:t>כבד</a:t>
            </a:r>
            <a:r>
              <a:rPr lang="en-US" dirty="0"/>
              <a:t> </a:t>
            </a:r>
            <a:r>
              <a:rPr lang="en-US" dirty="0" err="1"/>
              <a:t>חישבוית</a:t>
            </a:r>
            <a:r>
              <a:rPr lang="en-US" dirty="0"/>
              <a:t> </a:t>
            </a:r>
            <a:r>
              <a:rPr lang="en-US" dirty="0" err="1"/>
              <a:t>לא</a:t>
            </a:r>
            <a:r>
              <a:rPr lang="en-US" dirty="0"/>
              <a:t> </a:t>
            </a:r>
            <a:r>
              <a:rPr lang="en-US" dirty="0" err="1"/>
              <a:t>יכולנו</a:t>
            </a:r>
            <a:r>
              <a:rPr lang="en-US" dirty="0"/>
              <a:t> </a:t>
            </a:r>
            <a:r>
              <a:rPr lang="en-US" dirty="0" err="1"/>
              <a:t>שלא</a:t>
            </a:r>
            <a:r>
              <a:rPr lang="en-US" dirty="0"/>
              <a:t> </a:t>
            </a:r>
            <a:r>
              <a:rPr lang="en-US" dirty="0" err="1"/>
              <a:t>לחשוב</a:t>
            </a:r>
            <a:r>
              <a:rPr lang="en-US" dirty="0"/>
              <a:t> </a:t>
            </a:r>
            <a:r>
              <a:rPr lang="en-US" dirty="0" err="1"/>
              <a:t>האם</a:t>
            </a:r>
            <a:r>
              <a:rPr lang="en-US" dirty="0"/>
              <a:t> </a:t>
            </a:r>
            <a:r>
              <a:rPr lang="en-US" dirty="0" err="1"/>
              <a:t>יש</a:t>
            </a:r>
            <a:r>
              <a:rPr lang="en-US" dirty="0"/>
              <a:t> </a:t>
            </a:r>
            <a:r>
              <a:rPr lang="en-US" dirty="0" err="1"/>
              <a:t>דרך</a:t>
            </a:r>
            <a:r>
              <a:rPr lang="en-US" dirty="0"/>
              <a:t> </a:t>
            </a:r>
            <a:r>
              <a:rPr lang="en-US" dirty="0" err="1"/>
              <a:t>טובה</a:t>
            </a:r>
            <a:r>
              <a:rPr lang="en-US" dirty="0"/>
              <a:t> </a:t>
            </a:r>
            <a:r>
              <a:rPr lang="en-US" dirty="0" err="1"/>
              <a:t>יעילה</a:t>
            </a:r>
            <a:r>
              <a:rPr lang="en-US" dirty="0"/>
              <a:t> </a:t>
            </a:r>
            <a:r>
              <a:rPr lang="en-US" dirty="0" err="1"/>
              <a:t>יותר</a:t>
            </a:r>
            <a:r>
              <a:rPr lang="en-US" dirty="0"/>
              <a:t> </a:t>
            </a:r>
            <a:r>
              <a:rPr lang="en-US" dirty="0" err="1"/>
              <a:t>מSVD</a:t>
            </a:r>
            <a:r>
              <a:rPr lang="en-US" dirty="0"/>
              <a:t> </a:t>
            </a:r>
            <a:r>
              <a:rPr lang="en-US" dirty="0" err="1"/>
              <a:t>והחלטנו</a:t>
            </a:r>
            <a:r>
              <a:rPr lang="en-US" dirty="0"/>
              <a:t> </a:t>
            </a:r>
            <a:r>
              <a:rPr lang="en-US" dirty="0" err="1"/>
              <a:t>לבדוק</a:t>
            </a:r>
            <a:r>
              <a:rPr lang="en-US" dirty="0"/>
              <a:t> </a:t>
            </a:r>
            <a:r>
              <a:rPr lang="en-US" dirty="0" err="1"/>
              <a:t>את</a:t>
            </a:r>
            <a:r>
              <a:rPr lang="en-US" dirty="0"/>
              <a:t> </a:t>
            </a:r>
            <a:r>
              <a:rPr lang="en-US" dirty="0" err="1"/>
              <a:t>העניין</a:t>
            </a:r>
            <a:r>
              <a:rPr lang="en-US" dirty="0"/>
              <a:t> </a:t>
            </a:r>
            <a:r>
              <a:rPr lang="en-US" dirty="0" err="1"/>
              <a:t>ולהשתמש</a:t>
            </a:r>
            <a:r>
              <a:rPr lang="en-US" dirty="0"/>
              <a:t> </a:t>
            </a:r>
            <a:r>
              <a:rPr lang="en-US" dirty="0" err="1"/>
              <a:t>בכמה</a:t>
            </a:r>
            <a:r>
              <a:rPr lang="en-US" dirty="0"/>
              <a:t> </a:t>
            </a:r>
            <a:r>
              <a:rPr lang="en-US" dirty="0" err="1"/>
              <a:t>שיטות</a:t>
            </a:r>
            <a:r>
              <a:rPr lang="en-US" dirty="0"/>
              <a:t> </a:t>
            </a:r>
            <a:r>
              <a:rPr lang="en-US" dirty="0" err="1"/>
              <a:t>ולבסוף</a:t>
            </a:r>
            <a:r>
              <a:rPr lang="en-US" dirty="0"/>
              <a:t> </a:t>
            </a:r>
            <a:r>
              <a:rPr lang="en-US" dirty="0" err="1"/>
              <a:t>להשוות</a:t>
            </a:r>
            <a:r>
              <a:rPr lang="en-US" dirty="0"/>
              <a:t> </a:t>
            </a:r>
            <a:r>
              <a:rPr lang="en-US" dirty="0" err="1"/>
              <a:t>את</a:t>
            </a:r>
            <a:r>
              <a:rPr lang="en-US" dirty="0"/>
              <a:t> </a:t>
            </a:r>
            <a:r>
              <a:rPr lang="en-US" dirty="0" err="1"/>
              <a:t>הביצועים</a:t>
            </a:r>
            <a:r>
              <a:rPr lang="en-US" dirty="0"/>
              <a:t> </a:t>
            </a:r>
            <a:r>
              <a:rPr lang="en-US" dirty="0" err="1"/>
              <a:t>שלהן</a:t>
            </a:r>
            <a:r>
              <a:rPr lang="en-US" dirty="0"/>
              <a:t>.</a:t>
            </a:r>
            <a:endParaRPr lang="he-IL" dirty="0"/>
          </a:p>
          <a:p>
            <a:pPr algn="r" rtl="1"/>
            <a:endParaRPr lang="he-IL" dirty="0"/>
          </a:p>
          <a:p>
            <a:pPr marL="171450" indent="-171450" algn="r" rtl="1">
              <a:buFontTx/>
              <a:buChar char="-"/>
            </a:pPr>
            <a:r>
              <a:rPr lang="he-IL" dirty="0"/>
              <a:t>לא לשכוח להגיד ש</a:t>
            </a:r>
            <a:r>
              <a:rPr lang="en-US" dirty="0"/>
              <a:t>QR</a:t>
            </a:r>
            <a:r>
              <a:rPr lang="he-IL" dirty="0"/>
              <a:t> אמור להיות יותר מהיר ויציב חישובית מ</a:t>
            </a:r>
            <a:r>
              <a:rPr lang="en-US" dirty="0"/>
              <a:t>SVD</a:t>
            </a:r>
            <a:endParaRPr lang="he-IL" dirty="0"/>
          </a:p>
          <a:p>
            <a:pPr marL="171450" indent="-171450" algn="r" rtl="1">
              <a:buFontTx/>
              <a:buChar char="-"/>
            </a:pPr>
            <a:endParaRPr lang="he-IL" dirty="0"/>
          </a:p>
          <a:p>
            <a:pPr algn="r" rtl="1"/>
            <a:r>
              <a:rPr lang="en-US" dirty="0" err="1"/>
              <a:t>והשלישית</a:t>
            </a:r>
            <a:r>
              <a:rPr lang="en-US" dirty="0"/>
              <a:t> </a:t>
            </a:r>
            <a:r>
              <a:rPr lang="en-US" dirty="0" err="1"/>
              <a:t>היא</a:t>
            </a:r>
            <a:r>
              <a:rPr lang="en-US" dirty="0"/>
              <a:t> Magnitude Pruning: </a:t>
            </a:r>
            <a:r>
              <a:rPr lang="en-US" dirty="0" err="1"/>
              <a:t>שיטת</a:t>
            </a:r>
            <a:r>
              <a:rPr lang="en-US" dirty="0"/>
              <a:t> </a:t>
            </a:r>
            <a:r>
              <a:rPr lang="en-US" dirty="0" err="1"/>
              <a:t>בייסליין</a:t>
            </a:r>
            <a:r>
              <a:rPr lang="en-US" dirty="0"/>
              <a:t> </a:t>
            </a:r>
            <a:r>
              <a:rPr lang="en-US" dirty="0" err="1"/>
              <a:t>נאיבית</a:t>
            </a:r>
            <a:r>
              <a:rPr lang="en-US" dirty="0"/>
              <a:t>. </a:t>
            </a:r>
            <a:r>
              <a:rPr lang="en-US" dirty="0" err="1"/>
              <a:t>פשוט</a:t>
            </a:r>
            <a:r>
              <a:rPr lang="en-US" dirty="0"/>
              <a:t> </a:t>
            </a:r>
            <a:r>
              <a:rPr lang="en-US" dirty="0" err="1"/>
              <a:t>הקפאנו</a:t>
            </a:r>
            <a:r>
              <a:rPr lang="en-US" dirty="0"/>
              <a:t> </a:t>
            </a:r>
            <a:r>
              <a:rPr lang="en-US" dirty="0" err="1"/>
              <a:t>את</a:t>
            </a:r>
            <a:r>
              <a:rPr lang="en-US" dirty="0"/>
              <a:t> </a:t>
            </a:r>
            <a:r>
              <a:rPr lang="en-US" dirty="0" err="1"/>
              <a:t>המשקולות</a:t>
            </a:r>
            <a:r>
              <a:rPr lang="en-US" dirty="0"/>
              <a:t> </a:t>
            </a:r>
            <a:r>
              <a:rPr lang="en-US" dirty="0" err="1"/>
              <a:t>הגדולות</a:t>
            </a:r>
            <a:r>
              <a:rPr lang="en-US" dirty="0"/>
              <a:t> </a:t>
            </a:r>
            <a:r>
              <a:rPr lang="en-US" dirty="0" err="1"/>
              <a:t>ביותר</a:t>
            </a:r>
            <a:r>
              <a:rPr lang="en-US" dirty="0"/>
              <a:t> </a:t>
            </a:r>
            <a:r>
              <a:rPr lang="en-US" dirty="0" err="1"/>
              <a:t>בערכן</a:t>
            </a:r>
            <a:r>
              <a:rPr lang="en-US" dirty="0"/>
              <a:t> </a:t>
            </a:r>
            <a:r>
              <a:rPr lang="en-US" dirty="0" err="1"/>
              <a:t>המוחלט</a:t>
            </a:r>
            <a:r>
              <a:rPr lang="en-US" dirty="0"/>
              <a:t>. </a:t>
            </a:r>
            <a:r>
              <a:rPr lang="en-US" dirty="0" err="1"/>
              <a:t>המטרה</a:t>
            </a:r>
            <a:r>
              <a:rPr lang="en-US" dirty="0"/>
              <a:t> </a:t>
            </a:r>
            <a:r>
              <a:rPr lang="en-US" dirty="0" err="1"/>
              <a:t>הייתה</a:t>
            </a:r>
            <a:r>
              <a:rPr lang="en-US" dirty="0"/>
              <a:t> </a:t>
            </a:r>
            <a:r>
              <a:rPr lang="en-US" dirty="0" err="1"/>
              <a:t>לבדוק</a:t>
            </a:r>
            <a:r>
              <a:rPr lang="en-US" dirty="0"/>
              <a:t> </a:t>
            </a:r>
            <a:r>
              <a:rPr lang="en-US" dirty="0" err="1"/>
              <a:t>האם</a:t>
            </a:r>
            <a:r>
              <a:rPr lang="en-US" dirty="0"/>
              <a:t> </a:t>
            </a:r>
            <a:r>
              <a:rPr lang="en-US" dirty="0" err="1"/>
              <a:t>כל</a:t>
            </a:r>
            <a:r>
              <a:rPr lang="en-US" dirty="0"/>
              <a:t> </a:t>
            </a:r>
            <a:r>
              <a:rPr lang="en-US" dirty="0" err="1"/>
              <a:t>המתמטיקה</a:t>
            </a:r>
            <a:r>
              <a:rPr lang="en-US" dirty="0"/>
              <a:t> </a:t>
            </a:r>
            <a:r>
              <a:rPr lang="en-US" dirty="0" err="1"/>
              <a:t>המורכבת</a:t>
            </a:r>
            <a:r>
              <a:rPr lang="en-US" dirty="0"/>
              <a:t> </a:t>
            </a:r>
            <a:r>
              <a:rPr lang="en-US" dirty="0" err="1"/>
              <a:t>של</a:t>
            </a:r>
            <a:r>
              <a:rPr lang="en-US" dirty="0"/>
              <a:t> SVD </a:t>
            </a:r>
            <a:r>
              <a:rPr lang="en-US" dirty="0" err="1"/>
              <a:t>בכלל</a:t>
            </a:r>
            <a:r>
              <a:rPr lang="en-US" dirty="0"/>
              <a:t> </a:t>
            </a:r>
            <a:r>
              <a:rPr lang="en-US" dirty="0" err="1"/>
              <a:t>נחוצה</a:t>
            </a:r>
            <a:r>
              <a:rPr lang="en-US" dirty="0"/>
              <a:t>, </a:t>
            </a:r>
            <a:r>
              <a:rPr lang="en-US" dirty="0" err="1"/>
              <a:t>או</a:t>
            </a:r>
            <a:r>
              <a:rPr lang="en-US" dirty="0"/>
              <a:t> </a:t>
            </a:r>
            <a:r>
              <a:rPr lang="en-US" dirty="0" err="1"/>
              <a:t>ש'גודל</a:t>
            </a:r>
            <a:r>
              <a:rPr lang="en-US" dirty="0"/>
              <a:t> </a:t>
            </a:r>
            <a:r>
              <a:rPr lang="en-US" dirty="0" err="1"/>
              <a:t>קובע</a:t>
            </a:r>
            <a:r>
              <a:rPr lang="en-US" dirty="0"/>
              <a:t>' </a:t>
            </a:r>
            <a:r>
              <a:rPr lang="en-US" dirty="0" err="1"/>
              <a:t>וזה</a:t>
            </a:r>
            <a:r>
              <a:rPr lang="en-US" dirty="0"/>
              <a:t> </a:t>
            </a:r>
            <a:r>
              <a:rPr lang="en-US" dirty="0" err="1"/>
              <a:t>מספיק</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אז</a:t>
            </a:r>
            <a:r>
              <a:rPr lang="en-US" dirty="0"/>
              <a:t> </a:t>
            </a:r>
            <a:r>
              <a:rPr lang="en-US" dirty="0" err="1"/>
              <a:t>לקחנו</a:t>
            </a:r>
            <a:r>
              <a:rPr lang="en-US" dirty="0"/>
              <a:t> </a:t>
            </a:r>
            <a:r>
              <a:rPr lang="en-US" dirty="0" err="1"/>
              <a:t>את</a:t>
            </a:r>
            <a:r>
              <a:rPr lang="en-US" dirty="0"/>
              <a:t> </a:t>
            </a:r>
            <a:r>
              <a:rPr lang="en-US" dirty="0" err="1"/>
              <a:t>סט</a:t>
            </a:r>
            <a:r>
              <a:rPr lang="en-US" dirty="0"/>
              <a:t> </a:t>
            </a:r>
            <a:r>
              <a:rPr lang="en-US" dirty="0" err="1"/>
              <a:t>הנתונים</a:t>
            </a:r>
            <a:r>
              <a:rPr lang="en-US" dirty="0"/>
              <a:t> </a:t>
            </a:r>
            <a:r>
              <a:rPr lang="en-US" dirty="0" err="1"/>
              <a:t>של</a:t>
            </a:r>
            <a:r>
              <a:rPr lang="en-US" dirty="0"/>
              <a:t> CIFAR-</a:t>
            </a:r>
            <a:r>
              <a:rPr lang="en-US" dirty="0" err="1"/>
              <a:t>אשר</a:t>
            </a:r>
            <a:r>
              <a:rPr lang="en-US" dirty="0"/>
              <a:t> </a:t>
            </a:r>
            <a:r>
              <a:rPr lang="en-US" dirty="0" err="1"/>
              <a:t>מכיל</a:t>
            </a:r>
            <a:r>
              <a:rPr lang="en-US" dirty="0"/>
              <a:t> 50 </a:t>
            </a:r>
            <a:r>
              <a:rPr lang="en-US" dirty="0" err="1"/>
              <a:t>אלף</a:t>
            </a:r>
            <a:r>
              <a:rPr lang="en-US" dirty="0"/>
              <a:t> </a:t>
            </a:r>
            <a:r>
              <a:rPr lang="en-US" dirty="0" err="1"/>
              <a:t>תמונות</a:t>
            </a:r>
            <a:r>
              <a:rPr lang="en-US" dirty="0"/>
              <a:t> </a:t>
            </a:r>
            <a:r>
              <a:rPr lang="en-US" dirty="0" err="1"/>
              <a:t>אימון</a:t>
            </a:r>
            <a:r>
              <a:rPr lang="en-US" dirty="0"/>
              <a:t> ן 10 </a:t>
            </a:r>
            <a:r>
              <a:rPr lang="en-US" dirty="0" err="1"/>
              <a:t>אלף</a:t>
            </a:r>
            <a:r>
              <a:rPr lang="en-US" dirty="0"/>
              <a:t> </a:t>
            </a:r>
            <a:r>
              <a:rPr lang="en-US" dirty="0" err="1"/>
              <a:t>תמונות</a:t>
            </a:r>
            <a:r>
              <a:rPr lang="en-US" dirty="0"/>
              <a:t> </a:t>
            </a:r>
            <a:r>
              <a:rPr lang="en-US" dirty="0" err="1"/>
              <a:t>מבחן</a:t>
            </a:r>
            <a:r>
              <a:rPr lang="en-US" dirty="0"/>
              <a:t>, </a:t>
            </a:r>
            <a:r>
              <a:rPr lang="en-US" dirty="0" err="1"/>
              <a:t>כל</a:t>
            </a:r>
            <a:r>
              <a:rPr lang="en-US" dirty="0"/>
              <a:t> </a:t>
            </a:r>
            <a:r>
              <a:rPr lang="en-US" dirty="0" err="1"/>
              <a:t>תמונה</a:t>
            </a:r>
            <a:r>
              <a:rPr lang="en-US" dirty="0"/>
              <a:t> 32*32</a:t>
            </a:r>
          </a:p>
          <a:p>
            <a:pPr algn="r" rtl="1"/>
            <a:endParaRPr lang="en-US" dirty="0"/>
          </a:p>
          <a:p>
            <a:pPr algn="r" rtl="1"/>
            <a:r>
              <a:rPr lang="en-US" dirty="0"/>
              <a:t>resnet18</a:t>
            </a:r>
          </a:p>
          <a:p>
            <a:pPr algn="r" rtl="1"/>
            <a:r>
              <a:rPr lang="en-US" dirty="0" err="1"/>
              <a:t>רשת</a:t>
            </a:r>
            <a:r>
              <a:rPr lang="en-US" dirty="0"/>
              <a:t> </a:t>
            </a:r>
            <a:r>
              <a:rPr lang="en-US" dirty="0" err="1"/>
              <a:t>יחסית</a:t>
            </a:r>
            <a:r>
              <a:rPr lang="en-US" dirty="0"/>
              <a:t> </a:t>
            </a:r>
            <a:r>
              <a:rPr lang="en-US" dirty="0" err="1"/>
              <a:t>פשוטה</a:t>
            </a:r>
            <a:r>
              <a:rPr lang="en-US" dirty="0"/>
              <a:t> </a:t>
            </a:r>
            <a:r>
              <a:rPr lang="en-US" dirty="0" err="1"/>
              <a:t>של</a:t>
            </a:r>
            <a:r>
              <a:rPr lang="en-US" dirty="0"/>
              <a:t> 18 </a:t>
            </a:r>
            <a:r>
              <a:rPr lang="en-US" dirty="0" err="1"/>
              <a:t>שכבות</a:t>
            </a:r>
            <a:r>
              <a:rPr lang="en-US" dirty="0"/>
              <a:t> </a:t>
            </a:r>
            <a:r>
              <a:rPr lang="en-US" dirty="0" err="1"/>
              <a:t>מבוססת</a:t>
            </a:r>
            <a:r>
              <a:rPr lang="en-US" dirty="0"/>
              <a:t> </a:t>
            </a:r>
            <a:r>
              <a:rPr lang="en-US" dirty="0" err="1"/>
              <a:t>קונבולוציה</a:t>
            </a:r>
            <a:r>
              <a:rPr lang="en-US" dirty="0"/>
              <a:t>.</a:t>
            </a:r>
          </a:p>
          <a:p>
            <a:pPr algn="r" rtl="1"/>
            <a:r>
              <a:rPr lang="en-US" dirty="0"/>
              <a:t>_________________________________</a:t>
            </a:r>
          </a:p>
          <a:p>
            <a:pPr algn="r" rtl="1"/>
            <a:r>
              <a:rPr lang="en-US" dirty="0" err="1"/>
              <a:t>מערך</a:t>
            </a:r>
            <a:r>
              <a:rPr lang="en-US" dirty="0"/>
              <a:t> </a:t>
            </a:r>
            <a:r>
              <a:rPr lang="en-US" dirty="0" err="1"/>
              <a:t>הניסוי</a:t>
            </a:r>
            <a:r>
              <a:rPr lang="en-US" dirty="0"/>
              <a:t> </a:t>
            </a:r>
            <a:r>
              <a:rPr lang="en-US" dirty="0" err="1"/>
              <a:t>שלנו</a:t>
            </a:r>
            <a:r>
              <a:rPr lang="en-US" dirty="0"/>
              <a:t> </a:t>
            </a:r>
            <a:r>
              <a:rPr lang="en-US" dirty="0" err="1"/>
              <a:t>התבסס</a:t>
            </a:r>
            <a:r>
              <a:rPr lang="en-US" dirty="0"/>
              <a:t> </a:t>
            </a:r>
            <a:r>
              <a:rPr lang="en-US" dirty="0" err="1"/>
              <a:t>על</a:t>
            </a:r>
            <a:r>
              <a:rPr lang="en-US" dirty="0"/>
              <a:t> CIFAR-10 </a:t>
            </a:r>
            <a:r>
              <a:rPr lang="en-US" dirty="0" err="1"/>
              <a:t>מפוצל</a:t>
            </a:r>
            <a:r>
              <a:rPr lang="en-US" dirty="0"/>
              <a:t>. </a:t>
            </a:r>
            <a:r>
              <a:rPr lang="en-US" dirty="0" err="1"/>
              <a:t>בשלב</a:t>
            </a:r>
            <a:r>
              <a:rPr lang="en-US" dirty="0"/>
              <a:t> </a:t>
            </a:r>
            <a:r>
              <a:rPr lang="en-US" dirty="0" err="1"/>
              <a:t>הראשון</a:t>
            </a:r>
            <a:r>
              <a:rPr lang="en-US" dirty="0"/>
              <a:t>, </a:t>
            </a:r>
            <a:r>
              <a:rPr lang="en-US" dirty="0" err="1"/>
              <a:t>אימנו</a:t>
            </a:r>
            <a:r>
              <a:rPr lang="en-US" dirty="0"/>
              <a:t> '</a:t>
            </a:r>
            <a:r>
              <a:rPr lang="en-US" dirty="0" err="1"/>
              <a:t>מודל</a:t>
            </a:r>
            <a:r>
              <a:rPr lang="en-US" dirty="0"/>
              <a:t> </a:t>
            </a:r>
            <a:r>
              <a:rPr lang="en-US" dirty="0" err="1"/>
              <a:t>מומחה</a:t>
            </a:r>
            <a:r>
              <a:rPr lang="en-US" dirty="0"/>
              <a:t>' </a:t>
            </a:r>
            <a:r>
              <a:rPr lang="en-US" dirty="0" err="1"/>
              <a:t>על</a:t>
            </a:r>
            <a:r>
              <a:rPr lang="en-US" dirty="0"/>
              <a:t> 5 </a:t>
            </a:r>
            <a:r>
              <a:rPr lang="en-US" dirty="0" err="1"/>
              <a:t>המחלקות</a:t>
            </a:r>
            <a:r>
              <a:rPr lang="en-US" dirty="0"/>
              <a:t> </a:t>
            </a:r>
            <a:r>
              <a:rPr lang="en-US" dirty="0" err="1"/>
              <a:t>הראשונות</a:t>
            </a:r>
            <a:r>
              <a:rPr lang="en-US" dirty="0"/>
              <a:t> (Task A). </a:t>
            </a:r>
            <a:r>
              <a:rPr lang="en-US" dirty="0" err="1"/>
              <a:t>לאחר</a:t>
            </a:r>
            <a:r>
              <a:rPr lang="en-US" dirty="0"/>
              <a:t> </a:t>
            </a:r>
            <a:r>
              <a:rPr lang="en-US" dirty="0" err="1"/>
              <a:t>מכן</a:t>
            </a:r>
            <a:r>
              <a:rPr lang="en-US" dirty="0"/>
              <a:t>, </a:t>
            </a:r>
            <a:r>
              <a:rPr lang="en-US" dirty="0" err="1"/>
              <a:t>הקפאנו</a:t>
            </a:r>
            <a:r>
              <a:rPr lang="en-US" dirty="0"/>
              <a:t> </a:t>
            </a:r>
            <a:r>
              <a:rPr lang="en-US" dirty="0" err="1"/>
              <a:t>אותו</a:t>
            </a:r>
            <a:r>
              <a:rPr lang="en-US" dirty="0"/>
              <a:t> </a:t>
            </a:r>
            <a:r>
              <a:rPr lang="en-US" dirty="0" err="1"/>
              <a:t>וחישבנו</a:t>
            </a:r>
            <a:r>
              <a:rPr lang="en-US" dirty="0"/>
              <a:t> </a:t>
            </a:r>
            <a:r>
              <a:rPr lang="en-US" dirty="0" err="1"/>
              <a:t>את</a:t>
            </a:r>
            <a:r>
              <a:rPr lang="en-US" dirty="0"/>
              <a:t> </a:t>
            </a:r>
            <a:r>
              <a:rPr lang="en-US" dirty="0" err="1"/>
              <a:t>מטריצות</a:t>
            </a:r>
            <a:r>
              <a:rPr lang="en-US" dirty="0"/>
              <a:t> </a:t>
            </a:r>
            <a:r>
              <a:rPr lang="en-US" dirty="0" err="1"/>
              <a:t>ההטלה</a:t>
            </a:r>
            <a:r>
              <a:rPr lang="en-US" dirty="0"/>
              <a:t> (Projections) </a:t>
            </a:r>
            <a:r>
              <a:rPr lang="en-US" dirty="0" err="1"/>
              <a:t>בכל</a:t>
            </a:r>
            <a:r>
              <a:rPr lang="en-US" dirty="0"/>
              <a:t> </a:t>
            </a:r>
            <a:r>
              <a:rPr lang="en-US" dirty="0" err="1"/>
              <a:t>אחת</a:t>
            </a:r>
            <a:r>
              <a:rPr lang="en-US" dirty="0"/>
              <a:t> </a:t>
            </a:r>
            <a:r>
              <a:rPr lang="en-US" dirty="0" err="1"/>
              <a:t>מהשיטות</a:t>
            </a:r>
            <a:r>
              <a:rPr lang="en-US" dirty="0"/>
              <a:t> </a:t>
            </a:r>
            <a:r>
              <a:rPr lang="en-US" dirty="0" err="1"/>
              <a:t>שהצגנו</a:t>
            </a:r>
            <a:r>
              <a:rPr lang="en-US" dirty="0"/>
              <a:t> </a:t>
            </a:r>
            <a:r>
              <a:rPr lang="en-US" dirty="0" err="1"/>
              <a:t>קודם</a:t>
            </a:r>
            <a:r>
              <a:rPr lang="en-US" dirty="0"/>
              <a:t>. </a:t>
            </a:r>
            <a:r>
              <a:rPr lang="en-US" dirty="0" err="1"/>
              <a:t>בשלב</a:t>
            </a:r>
            <a:r>
              <a:rPr lang="en-US" dirty="0"/>
              <a:t> </a:t>
            </a:r>
            <a:r>
              <a:rPr lang="en-US" dirty="0" err="1"/>
              <a:t>הסופי</a:t>
            </a:r>
            <a:r>
              <a:rPr lang="en-US" dirty="0"/>
              <a:t>, </a:t>
            </a:r>
            <a:r>
              <a:rPr lang="en-US" dirty="0" err="1"/>
              <a:t>אימנו</a:t>
            </a:r>
            <a:r>
              <a:rPr lang="en-US" dirty="0"/>
              <a:t> </a:t>
            </a:r>
            <a:r>
              <a:rPr lang="en-US" dirty="0" err="1"/>
              <a:t>את</a:t>
            </a:r>
            <a:r>
              <a:rPr lang="en-US" dirty="0"/>
              <a:t> </a:t>
            </a:r>
            <a:r>
              <a:rPr lang="en-US" dirty="0" err="1"/>
              <a:t>המודל</a:t>
            </a:r>
            <a:r>
              <a:rPr lang="en-US" dirty="0"/>
              <a:t> </a:t>
            </a:r>
            <a:r>
              <a:rPr lang="en-US" dirty="0" err="1"/>
              <a:t>על</a:t>
            </a:r>
            <a:r>
              <a:rPr lang="en-US" dirty="0"/>
              <a:t> 5 </a:t>
            </a:r>
            <a:r>
              <a:rPr lang="en-US" dirty="0" err="1"/>
              <a:t>המחלקות</a:t>
            </a:r>
            <a:r>
              <a:rPr lang="en-US" dirty="0"/>
              <a:t> </a:t>
            </a:r>
            <a:r>
              <a:rPr lang="en-US" dirty="0" err="1"/>
              <a:t>החדשות</a:t>
            </a:r>
            <a:r>
              <a:rPr lang="en-US" dirty="0"/>
              <a:t> (Task B), </a:t>
            </a:r>
            <a:r>
              <a:rPr lang="en-US" dirty="0" err="1"/>
              <a:t>כאשר</a:t>
            </a:r>
            <a:r>
              <a:rPr lang="en-US" dirty="0"/>
              <a:t> </a:t>
            </a:r>
            <a:r>
              <a:rPr lang="en-US" dirty="0" err="1"/>
              <a:t>אנחנו</a:t>
            </a:r>
            <a:r>
              <a:rPr lang="en-US" dirty="0"/>
              <a:t> </a:t>
            </a:r>
            <a:r>
              <a:rPr lang="en-US" dirty="0" err="1"/>
              <a:t>משתמשים</a:t>
            </a:r>
            <a:r>
              <a:rPr lang="en-US" dirty="0"/>
              <a:t> </a:t>
            </a:r>
            <a:r>
              <a:rPr lang="en-US" dirty="0" err="1"/>
              <a:t>במטריצות</a:t>
            </a:r>
            <a:r>
              <a:rPr lang="en-US" dirty="0"/>
              <a:t> </a:t>
            </a:r>
            <a:r>
              <a:rPr lang="en-US" dirty="0" err="1"/>
              <a:t>שחישבנו</a:t>
            </a:r>
            <a:r>
              <a:rPr lang="en-US" dirty="0"/>
              <a:t> </a:t>
            </a:r>
            <a:r>
              <a:rPr lang="en-US" dirty="0" err="1"/>
              <a:t>כדי</a:t>
            </a:r>
            <a:r>
              <a:rPr lang="en-US" dirty="0"/>
              <a:t> </a:t>
            </a:r>
            <a:r>
              <a:rPr lang="en-US" dirty="0" err="1"/>
              <a:t>למנוע</a:t>
            </a:r>
            <a:r>
              <a:rPr lang="en-US" dirty="0"/>
              <a:t> </a:t>
            </a:r>
            <a:r>
              <a:rPr lang="en-US" dirty="0" err="1"/>
              <a:t>ממנו</a:t>
            </a:r>
            <a:r>
              <a:rPr lang="en-US" dirty="0"/>
              <a:t> </a:t>
            </a:r>
            <a:r>
              <a:rPr lang="en-US" dirty="0" err="1"/>
              <a:t>להרוס</a:t>
            </a:r>
            <a:r>
              <a:rPr lang="en-US" dirty="0"/>
              <a:t> </a:t>
            </a:r>
            <a:r>
              <a:rPr lang="en-US" dirty="0" err="1"/>
              <a:t>את</a:t>
            </a:r>
            <a:r>
              <a:rPr lang="en-US" dirty="0"/>
              <a:t> </a:t>
            </a:r>
            <a:r>
              <a:rPr lang="en-US" dirty="0" err="1"/>
              <a:t>מה</a:t>
            </a:r>
            <a:r>
              <a:rPr lang="en-US" dirty="0"/>
              <a:t> </a:t>
            </a:r>
            <a:r>
              <a:rPr lang="en-US" dirty="0" err="1"/>
              <a:t>שלמד</a:t>
            </a:r>
            <a:r>
              <a:rPr lang="en-US" dirty="0"/>
              <a:t> </a:t>
            </a:r>
            <a:r>
              <a:rPr lang="en-US" dirty="0" err="1"/>
              <a:t>בשלב</a:t>
            </a:r>
            <a:r>
              <a:rPr lang="en-US" dirty="0"/>
              <a:t> </a:t>
            </a:r>
            <a:r>
              <a:rPr lang="en-US" dirty="0" err="1"/>
              <a:t>הראשון</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החלק</a:t>
            </a:r>
            <a:r>
              <a:rPr lang="en-US" dirty="0"/>
              <a:t> </a:t>
            </a:r>
            <a:r>
              <a:rPr lang="en-US" dirty="0" err="1"/>
              <a:t>הראשון</a:t>
            </a:r>
            <a:r>
              <a:rPr lang="en-US" dirty="0"/>
              <a:t> </a:t>
            </a:r>
            <a:r>
              <a:rPr lang="en-US" dirty="0" err="1"/>
              <a:t>נועד</a:t>
            </a:r>
            <a:r>
              <a:rPr lang="en-US" dirty="0"/>
              <a:t> </a:t>
            </a:r>
            <a:r>
              <a:rPr lang="en-US" dirty="0" err="1"/>
              <a:t>להמיר</a:t>
            </a:r>
            <a:r>
              <a:rPr lang="en-US" dirty="0"/>
              <a:t> </a:t>
            </a:r>
            <a:r>
              <a:rPr lang="en-US" dirty="0" err="1"/>
              <a:t>טנסור</a:t>
            </a:r>
            <a:r>
              <a:rPr lang="en-US" dirty="0"/>
              <a:t> 4 </a:t>
            </a:r>
            <a:r>
              <a:rPr lang="en-US" dirty="0" err="1"/>
              <a:t>מימדי</a:t>
            </a:r>
            <a:r>
              <a:rPr lang="en-US" dirty="0"/>
              <a:t> </a:t>
            </a:r>
            <a:r>
              <a:rPr lang="en-US" dirty="0" err="1"/>
              <a:t>למטריצה</a:t>
            </a:r>
            <a:r>
              <a:rPr lang="en-US" dirty="0"/>
              <a:t>  </a:t>
            </a:r>
            <a:r>
              <a:rPr lang="en-US" dirty="0" err="1"/>
              <a:t>דו</a:t>
            </a:r>
            <a:r>
              <a:rPr lang="en-US" dirty="0"/>
              <a:t> </a:t>
            </a:r>
            <a:r>
              <a:rPr lang="en-US" dirty="0" err="1"/>
              <a:t>מימדית</a:t>
            </a:r>
            <a:r>
              <a:rPr lang="en-US" dirty="0"/>
              <a:t> </a:t>
            </a:r>
            <a:r>
              <a:rPr lang="en-US" dirty="0" err="1"/>
              <a:t>לצורך</a:t>
            </a:r>
            <a:r>
              <a:rPr lang="en-US" dirty="0"/>
              <a:t> </a:t>
            </a:r>
            <a:r>
              <a:rPr lang="en-US" dirty="0" err="1"/>
              <a:t>הפירוק</a:t>
            </a:r>
            <a:endParaRPr lang="en-US" dirty="0"/>
          </a:p>
          <a:p>
            <a:pPr algn="r" rtl="1"/>
            <a:endParaRPr lang="en-US" dirty="0"/>
          </a:p>
          <a:p>
            <a:pPr algn="r" rtl="1"/>
            <a:r>
              <a:rPr lang="en-US" dirty="0" err="1"/>
              <a:t>שכבת</a:t>
            </a:r>
            <a:r>
              <a:rPr lang="en-US" dirty="0"/>
              <a:t> </a:t>
            </a:r>
            <a:r>
              <a:rPr lang="en-US" dirty="0" err="1"/>
              <a:t>קונבולוציה</a:t>
            </a:r>
            <a:r>
              <a:rPr lang="en-US" dirty="0"/>
              <a:t>:</a:t>
            </a:r>
          </a:p>
          <a:p>
            <a:pPr algn="r" rtl="1"/>
            <a:r>
              <a:rPr lang="en-US" dirty="0"/>
              <a:t>out</a:t>
            </a:r>
          </a:p>
          <a:p>
            <a:pPr algn="r" rtl="1"/>
            <a:r>
              <a:rPr lang="en-US" dirty="0" err="1"/>
              <a:t>זה</a:t>
            </a:r>
            <a:r>
              <a:rPr lang="en-US" dirty="0"/>
              <a:t> </a:t>
            </a:r>
            <a:r>
              <a:rPr lang="en-US" dirty="0" err="1"/>
              <a:t>מס</a:t>
            </a:r>
            <a:r>
              <a:rPr lang="en-US" dirty="0"/>
              <a:t> </a:t>
            </a:r>
            <a:r>
              <a:rPr lang="en-US" dirty="0" err="1"/>
              <a:t>הפילטרים</a:t>
            </a:r>
            <a:r>
              <a:rPr lang="en-US" dirty="0"/>
              <a:t> (</a:t>
            </a:r>
            <a:r>
              <a:rPr lang="en-US" dirty="0" err="1"/>
              <a:t>תבניות</a:t>
            </a:r>
            <a:r>
              <a:rPr lang="en-US" dirty="0"/>
              <a:t> </a:t>
            </a:r>
            <a:r>
              <a:rPr lang="en-US" dirty="0" err="1"/>
              <a:t>שונות</a:t>
            </a:r>
            <a:r>
              <a:rPr lang="en-US" dirty="0"/>
              <a:t>)</a:t>
            </a:r>
          </a:p>
          <a:p>
            <a:pPr algn="r" rtl="1"/>
            <a:r>
              <a:rPr lang="en-US" dirty="0"/>
              <a:t>in</a:t>
            </a:r>
          </a:p>
          <a:p>
            <a:pPr algn="r" rtl="1"/>
            <a:r>
              <a:rPr lang="en-US" dirty="0" err="1"/>
              <a:t>עומק</a:t>
            </a:r>
            <a:r>
              <a:rPr lang="en-US" dirty="0"/>
              <a:t> </a:t>
            </a:r>
            <a:r>
              <a:rPr lang="en-US" dirty="0" err="1"/>
              <a:t>התמונה</a:t>
            </a:r>
            <a:r>
              <a:rPr lang="en-US" dirty="0"/>
              <a:t> (3 ב </a:t>
            </a:r>
            <a:r>
              <a:rPr lang="en-US" dirty="0" err="1"/>
              <a:t>rgb</a:t>
            </a:r>
            <a:r>
              <a:rPr lang="en-US" dirty="0"/>
              <a:t>)</a:t>
            </a:r>
          </a:p>
          <a:p>
            <a:pPr algn="r" rtl="1"/>
            <a:r>
              <a:rPr lang="en-US" dirty="0"/>
              <a:t>k*k</a:t>
            </a:r>
          </a:p>
          <a:p>
            <a:pPr algn="r" rtl="1"/>
            <a:r>
              <a:rPr lang="en-US" dirty="0" err="1"/>
              <a:t>זה</a:t>
            </a:r>
            <a:r>
              <a:rPr lang="en-US" dirty="0"/>
              <a:t> </a:t>
            </a:r>
            <a:r>
              <a:rPr lang="en-US" dirty="0" err="1"/>
              <a:t>גודל</a:t>
            </a:r>
            <a:r>
              <a:rPr lang="en-US" dirty="0"/>
              <a:t> </a:t>
            </a:r>
            <a:r>
              <a:rPr lang="en-US" dirty="0" err="1"/>
              <a:t>הפילטר</a:t>
            </a:r>
            <a:endParaRPr lang="en-US" dirty="0"/>
          </a:p>
          <a:p>
            <a:pPr algn="r" rtl="1"/>
            <a:endParaRPr lang="en-US" dirty="0"/>
          </a:p>
          <a:p>
            <a:pPr algn="r" rtl="1"/>
            <a:r>
              <a:rPr lang="en-US" dirty="0" err="1"/>
              <a:t>במטריצה</a:t>
            </a:r>
            <a:r>
              <a:rPr lang="en-US" dirty="0"/>
              <a:t> </a:t>
            </a:r>
            <a:r>
              <a:rPr lang="en-US" dirty="0" err="1"/>
              <a:t>הדו</a:t>
            </a:r>
            <a:r>
              <a:rPr lang="en-US" dirty="0"/>
              <a:t> </a:t>
            </a:r>
            <a:r>
              <a:rPr lang="en-US" dirty="0" err="1"/>
              <a:t>מימדית</a:t>
            </a:r>
            <a:r>
              <a:rPr lang="en-US" dirty="0"/>
              <a:t>:</a:t>
            </a:r>
          </a:p>
          <a:p>
            <a:pPr algn="r" rtl="1"/>
            <a:r>
              <a:rPr lang="en-US" dirty="0" err="1"/>
              <a:t>השורות</a:t>
            </a:r>
            <a:r>
              <a:rPr lang="en-US" dirty="0"/>
              <a:t> </a:t>
            </a:r>
            <a:r>
              <a:rPr lang="en-US" dirty="0" err="1"/>
              <a:t>זה</a:t>
            </a:r>
            <a:r>
              <a:rPr lang="en-US" dirty="0"/>
              <a:t> </a:t>
            </a:r>
            <a:r>
              <a:rPr lang="en-US" dirty="0" err="1"/>
              <a:t>הפילטרים</a:t>
            </a:r>
            <a:endParaRPr lang="en-US" dirty="0"/>
          </a:p>
          <a:p>
            <a:pPr algn="r" rtl="1"/>
            <a:r>
              <a:rPr lang="en-US" dirty="0" err="1"/>
              <a:t>העמודות</a:t>
            </a:r>
            <a:r>
              <a:rPr lang="en-US" dirty="0"/>
              <a:t> </a:t>
            </a:r>
            <a:r>
              <a:rPr lang="en-US" dirty="0" err="1"/>
              <a:t>זה</a:t>
            </a:r>
            <a:r>
              <a:rPr lang="en-US" dirty="0"/>
              <a:t> </a:t>
            </a:r>
            <a:r>
              <a:rPr lang="en-US" dirty="0" err="1"/>
              <a:t>עומק</a:t>
            </a:r>
            <a:r>
              <a:rPr lang="en-US" dirty="0"/>
              <a:t> + </a:t>
            </a:r>
            <a:r>
              <a:rPr lang="en-US" dirty="0" err="1"/>
              <a:t>גובה</a:t>
            </a:r>
            <a:r>
              <a:rPr lang="en-US" dirty="0"/>
              <a:t> + </a:t>
            </a:r>
            <a:r>
              <a:rPr lang="en-US" dirty="0" err="1"/>
              <a:t>רוחב</a:t>
            </a:r>
            <a:r>
              <a:rPr lang="en-US" dirty="0"/>
              <a:t> </a:t>
            </a:r>
            <a:r>
              <a:rPr lang="en-US" dirty="0" err="1"/>
              <a:t>מקובץ</a:t>
            </a:r>
            <a:endParaRPr lang="en-US" dirty="0"/>
          </a:p>
          <a:p>
            <a:pPr algn="r" rtl="1"/>
            <a:endParaRPr lang="en-US" dirty="0"/>
          </a:p>
          <a:p>
            <a:pPr algn="r" rtl="1"/>
            <a:r>
              <a:rPr lang="en-US" dirty="0" err="1"/>
              <a:t>לב</a:t>
            </a:r>
            <a:r>
              <a:rPr lang="en-US" dirty="0"/>
              <a:t> </a:t>
            </a:r>
            <a:r>
              <a:rPr lang="en-US" dirty="0" err="1"/>
              <a:t>המימוש</a:t>
            </a:r>
            <a:r>
              <a:rPr lang="en-US" dirty="0"/>
              <a:t> </a:t>
            </a:r>
            <a:r>
              <a:rPr lang="en-US" dirty="0" err="1"/>
              <a:t>שלנו</a:t>
            </a:r>
            <a:r>
              <a:rPr lang="en-US" dirty="0"/>
              <a:t> </a:t>
            </a:r>
            <a:r>
              <a:rPr lang="en-US" dirty="0" err="1"/>
              <a:t>נמצא</a:t>
            </a:r>
            <a:r>
              <a:rPr lang="en-US" dirty="0"/>
              <a:t> </a:t>
            </a:r>
            <a:r>
              <a:rPr lang="en-US" dirty="0" err="1"/>
              <a:t>בלולאת</a:t>
            </a:r>
            <a:r>
              <a:rPr lang="en-US" dirty="0"/>
              <a:t> </a:t>
            </a:r>
            <a:r>
              <a:rPr lang="en-US" dirty="0" err="1"/>
              <a:t>האימון</a:t>
            </a:r>
            <a:r>
              <a:rPr lang="en-US" dirty="0"/>
              <a:t>. </a:t>
            </a:r>
            <a:r>
              <a:rPr lang="en-US" dirty="0" err="1"/>
              <a:t>בנינו</a:t>
            </a:r>
            <a:r>
              <a:rPr lang="en-US" dirty="0"/>
              <a:t> </a:t>
            </a:r>
            <a:r>
              <a:rPr lang="en-US" dirty="0" err="1"/>
              <a:t>מנגנון</a:t>
            </a:r>
            <a:r>
              <a:rPr lang="en-US" dirty="0"/>
              <a:t> </a:t>
            </a:r>
            <a:r>
              <a:rPr lang="en-US" dirty="0" err="1"/>
              <a:t>ש'תופס</a:t>
            </a:r>
            <a:r>
              <a:rPr lang="en-US" dirty="0"/>
              <a:t>' </a:t>
            </a:r>
            <a:r>
              <a:rPr lang="en-US" dirty="0" err="1"/>
              <a:t>את</a:t>
            </a:r>
            <a:r>
              <a:rPr lang="en-US" dirty="0"/>
              <a:t> </a:t>
            </a:r>
            <a:r>
              <a:rPr lang="en-US" dirty="0" err="1"/>
              <a:t>הגרדינטים</a:t>
            </a:r>
            <a:r>
              <a:rPr lang="en-US" dirty="0"/>
              <a:t> </a:t>
            </a:r>
            <a:r>
              <a:rPr lang="en-US" dirty="0" err="1"/>
              <a:t>רגע</a:t>
            </a:r>
            <a:r>
              <a:rPr lang="en-US" dirty="0"/>
              <a:t> </a:t>
            </a:r>
            <a:r>
              <a:rPr lang="en-US" dirty="0" err="1"/>
              <a:t>לפני</a:t>
            </a:r>
            <a:r>
              <a:rPr lang="en-US" dirty="0"/>
              <a:t> </a:t>
            </a:r>
            <a:r>
              <a:rPr lang="en-US" dirty="0" err="1"/>
              <a:t>העדכון</a:t>
            </a:r>
            <a:r>
              <a:rPr lang="en-US" dirty="0"/>
              <a:t>, </a:t>
            </a:r>
            <a:r>
              <a:rPr lang="en-US" dirty="0" err="1"/>
              <a:t>ומטיל</a:t>
            </a:r>
            <a:r>
              <a:rPr lang="en-US" dirty="0"/>
              <a:t> (Project) </a:t>
            </a:r>
            <a:r>
              <a:rPr lang="en-US" dirty="0" err="1"/>
              <a:t>אותם</a:t>
            </a:r>
            <a:r>
              <a:rPr lang="en-US" dirty="0"/>
              <a:t> </a:t>
            </a:r>
            <a:r>
              <a:rPr lang="en-US" dirty="0" err="1"/>
              <a:t>למרחב</a:t>
            </a:r>
            <a:r>
              <a:rPr lang="en-US" dirty="0"/>
              <a:t> </a:t>
            </a:r>
            <a:r>
              <a:rPr lang="en-US" dirty="0" err="1"/>
              <a:t>הבטוח</a:t>
            </a:r>
            <a:r>
              <a:rPr lang="en-US" dirty="0"/>
              <a:t>. </a:t>
            </a:r>
            <a:r>
              <a:rPr lang="en-US" dirty="0" err="1"/>
              <a:t>זה</a:t>
            </a:r>
            <a:r>
              <a:rPr lang="en-US" dirty="0"/>
              <a:t> </a:t>
            </a:r>
            <a:r>
              <a:rPr lang="en-US" dirty="0" err="1"/>
              <a:t>אומר</a:t>
            </a:r>
            <a:r>
              <a:rPr lang="en-US" dirty="0"/>
              <a:t> </a:t>
            </a:r>
            <a:r>
              <a:rPr lang="en-US" dirty="0" err="1"/>
              <a:t>שהרשת</a:t>
            </a:r>
            <a:r>
              <a:rPr lang="en-US" dirty="0"/>
              <a:t> </a:t>
            </a:r>
            <a:r>
              <a:rPr lang="en-US" dirty="0" err="1"/>
              <a:t>לומדת</a:t>
            </a:r>
            <a:r>
              <a:rPr lang="en-US" dirty="0"/>
              <a:t> </a:t>
            </a:r>
            <a:r>
              <a:rPr lang="en-US" dirty="0" err="1"/>
              <a:t>את</a:t>
            </a:r>
            <a:r>
              <a:rPr lang="en-US" dirty="0"/>
              <a:t> </a:t>
            </a:r>
            <a:r>
              <a:rPr lang="en-US" dirty="0" err="1"/>
              <a:t>משימה</a:t>
            </a:r>
            <a:r>
              <a:rPr lang="en-US" dirty="0"/>
              <a:t> B, </a:t>
            </a:r>
            <a:r>
              <a:rPr lang="en-US" dirty="0" err="1"/>
              <a:t>אבל</a:t>
            </a:r>
            <a:r>
              <a:rPr lang="en-US" dirty="0"/>
              <a:t> </a:t>
            </a:r>
            <a:r>
              <a:rPr lang="en-US" dirty="0" err="1"/>
              <a:t>רק</a:t>
            </a:r>
            <a:r>
              <a:rPr lang="en-US" dirty="0"/>
              <a:t> </a:t>
            </a:r>
            <a:r>
              <a:rPr lang="en-US" dirty="0" err="1"/>
              <a:t>בכיוונים</a:t>
            </a:r>
            <a:r>
              <a:rPr lang="en-US" dirty="0"/>
              <a:t> </a:t>
            </a:r>
            <a:r>
              <a:rPr lang="en-US" dirty="0" err="1"/>
              <a:t>שלא</a:t>
            </a:r>
            <a:r>
              <a:rPr lang="en-US" dirty="0"/>
              <a:t> </a:t>
            </a:r>
            <a:r>
              <a:rPr lang="en-US" dirty="0" err="1"/>
              <a:t>פוגעים</a:t>
            </a:r>
            <a:r>
              <a:rPr lang="en-US" dirty="0"/>
              <a:t> </a:t>
            </a:r>
            <a:r>
              <a:rPr lang="en-US" dirty="0" err="1"/>
              <a:t>במשימה</a:t>
            </a:r>
            <a:r>
              <a:rPr lang="en-US" dirty="0"/>
              <a:t> 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הגענו</a:t>
            </a:r>
            <a:r>
              <a:rPr lang="en-US" dirty="0"/>
              <a:t> </a:t>
            </a:r>
            <a:r>
              <a:rPr lang="en-US" dirty="0" err="1"/>
              <a:t>לתוצאות</a:t>
            </a:r>
            <a:r>
              <a:rPr lang="en-US" dirty="0"/>
              <a:t> </a:t>
            </a:r>
            <a:r>
              <a:rPr lang="en-US" dirty="0" err="1"/>
              <a:t>המעניינות</a:t>
            </a:r>
            <a:r>
              <a:rPr lang="en-US" dirty="0"/>
              <a:t>. </a:t>
            </a:r>
            <a:r>
              <a:rPr lang="en-US" dirty="0" err="1"/>
              <a:t>ראשית</a:t>
            </a:r>
            <a:r>
              <a:rPr lang="en-US" dirty="0"/>
              <a:t>, </a:t>
            </a:r>
            <a:r>
              <a:rPr lang="en-US" dirty="0" err="1"/>
              <a:t>הגישה</a:t>
            </a:r>
            <a:r>
              <a:rPr lang="en-US" dirty="0"/>
              <a:t> </a:t>
            </a:r>
            <a:r>
              <a:rPr lang="en-US" dirty="0" err="1"/>
              <a:t>הנאיבית</a:t>
            </a:r>
            <a:r>
              <a:rPr lang="en-US" dirty="0"/>
              <a:t> (</a:t>
            </a:r>
            <a:r>
              <a:rPr lang="en-US" dirty="0" err="1"/>
              <a:t>ללא</a:t>
            </a:r>
            <a:r>
              <a:rPr lang="en-US" dirty="0"/>
              <a:t> </a:t>
            </a:r>
            <a:r>
              <a:rPr lang="en-US" dirty="0" err="1"/>
              <a:t>הגנה</a:t>
            </a:r>
            <a:r>
              <a:rPr lang="en-US" dirty="0"/>
              <a:t>) </a:t>
            </a:r>
            <a:r>
              <a:rPr lang="en-US" dirty="0" err="1"/>
              <a:t>הובילה</a:t>
            </a:r>
            <a:r>
              <a:rPr lang="en-US" dirty="0"/>
              <a:t> </a:t>
            </a:r>
            <a:r>
              <a:rPr lang="en-US" dirty="0" err="1"/>
              <a:t>לשכחה</a:t>
            </a:r>
            <a:r>
              <a:rPr lang="en-US" dirty="0"/>
              <a:t> </a:t>
            </a:r>
            <a:r>
              <a:rPr lang="en-US" dirty="0" err="1"/>
              <a:t>חמורה</a:t>
            </a:r>
            <a:r>
              <a:rPr lang="en-US" dirty="0"/>
              <a:t>, </a:t>
            </a:r>
            <a:r>
              <a:rPr lang="en-US" dirty="0" err="1"/>
              <a:t>כצפוי</a:t>
            </a:r>
            <a:r>
              <a:rPr lang="en-US" dirty="0"/>
              <a:t>. </a:t>
            </a:r>
            <a:r>
              <a:rPr lang="en-US" dirty="0" err="1"/>
              <a:t>ההפתעה</a:t>
            </a:r>
            <a:r>
              <a:rPr lang="en-US" dirty="0"/>
              <a:t> </a:t>
            </a:r>
            <a:r>
              <a:rPr lang="en-US" dirty="0" err="1"/>
              <a:t>הגדולה</a:t>
            </a:r>
            <a:r>
              <a:rPr lang="en-US" dirty="0"/>
              <a:t> </a:t>
            </a:r>
            <a:r>
              <a:rPr lang="en-US" dirty="0" err="1"/>
              <a:t>הייתה</a:t>
            </a:r>
            <a:r>
              <a:rPr lang="en-US" dirty="0"/>
              <a:t> Randomized SVD (RSVD). </a:t>
            </a:r>
            <a:r>
              <a:rPr lang="en-US" dirty="0" err="1"/>
              <a:t>לא</a:t>
            </a:r>
            <a:r>
              <a:rPr lang="en-US" dirty="0"/>
              <a:t> </a:t>
            </a:r>
            <a:r>
              <a:rPr lang="en-US" dirty="0" err="1"/>
              <a:t>רק</a:t>
            </a:r>
            <a:r>
              <a:rPr lang="en-US" dirty="0"/>
              <a:t> </a:t>
            </a:r>
            <a:r>
              <a:rPr lang="en-US" dirty="0" err="1"/>
              <a:t>שהשיטה</a:t>
            </a:r>
            <a:r>
              <a:rPr lang="en-US" dirty="0"/>
              <a:t> </a:t>
            </a:r>
            <a:r>
              <a:rPr lang="en-US" dirty="0" err="1"/>
              <a:t>הזו</a:t>
            </a:r>
            <a:r>
              <a:rPr lang="en-US" dirty="0"/>
              <a:t> </a:t>
            </a:r>
            <a:r>
              <a:rPr lang="en-US" dirty="0" err="1"/>
              <a:t>הייתה</a:t>
            </a:r>
            <a:r>
              <a:rPr lang="en-US" dirty="0"/>
              <a:t> </a:t>
            </a:r>
            <a:r>
              <a:rPr lang="en-US" dirty="0" err="1"/>
              <a:t>המהירה</a:t>
            </a:r>
            <a:r>
              <a:rPr lang="en-US" dirty="0"/>
              <a:t> </a:t>
            </a:r>
            <a:r>
              <a:rPr lang="en-US" dirty="0" err="1"/>
              <a:t>ביותר</a:t>
            </a:r>
            <a:r>
              <a:rPr lang="en-US" dirty="0"/>
              <a:t> </a:t>
            </a:r>
            <a:r>
              <a:rPr lang="en-US" dirty="0" err="1"/>
              <a:t>לחישוב</a:t>
            </a:r>
            <a:r>
              <a:rPr lang="en-US" dirty="0"/>
              <a:t> (</a:t>
            </a:r>
            <a:r>
              <a:rPr lang="en-US" dirty="0" err="1"/>
              <a:t>פי</a:t>
            </a:r>
            <a:r>
              <a:rPr lang="en-US" dirty="0"/>
              <a:t> 3 מ-SVD </a:t>
            </a:r>
            <a:r>
              <a:rPr lang="en-US" dirty="0" err="1"/>
              <a:t>רגיל</a:t>
            </a:r>
            <a:r>
              <a:rPr lang="en-US" dirty="0"/>
              <a:t>), </a:t>
            </a:r>
            <a:r>
              <a:rPr lang="en-US" dirty="0" err="1"/>
              <a:t>היא</a:t>
            </a:r>
            <a:r>
              <a:rPr lang="en-US" dirty="0"/>
              <a:t> </a:t>
            </a:r>
            <a:r>
              <a:rPr lang="en-US" dirty="0" err="1"/>
              <a:t>גם</a:t>
            </a:r>
            <a:r>
              <a:rPr lang="en-US" dirty="0"/>
              <a:t> </a:t>
            </a:r>
            <a:r>
              <a:rPr lang="en-US" dirty="0" err="1"/>
              <a:t>סיפקה</a:t>
            </a:r>
            <a:r>
              <a:rPr lang="en-US" dirty="0"/>
              <a:t> </a:t>
            </a:r>
            <a:r>
              <a:rPr lang="en-US" dirty="0" err="1"/>
              <a:t>את</a:t>
            </a:r>
            <a:r>
              <a:rPr lang="en-US" dirty="0"/>
              <a:t> </a:t>
            </a:r>
            <a:r>
              <a:rPr lang="en-US" dirty="0" err="1"/>
              <a:t>הביצועים</a:t>
            </a:r>
            <a:r>
              <a:rPr lang="en-US" dirty="0"/>
              <a:t> </a:t>
            </a:r>
            <a:r>
              <a:rPr lang="en-US" dirty="0" err="1"/>
              <a:t>הטובים</a:t>
            </a:r>
            <a:r>
              <a:rPr lang="en-US" dirty="0"/>
              <a:t> </a:t>
            </a:r>
            <a:r>
              <a:rPr lang="en-US" dirty="0" err="1"/>
              <a:t>ביותר</a:t>
            </a:r>
            <a:r>
              <a:rPr lang="en-US" dirty="0"/>
              <a:t> </a:t>
            </a:r>
            <a:r>
              <a:rPr lang="en-US" dirty="0" err="1"/>
              <a:t>בשמירה</a:t>
            </a:r>
            <a:r>
              <a:rPr lang="en-US" dirty="0"/>
              <a:t> </a:t>
            </a:r>
            <a:r>
              <a:rPr lang="en-US" dirty="0" err="1"/>
              <a:t>על</a:t>
            </a:r>
            <a:r>
              <a:rPr lang="en-US" dirty="0"/>
              <a:t> </a:t>
            </a:r>
            <a:r>
              <a:rPr lang="en-US" dirty="0" err="1"/>
              <a:t>הידע</a:t>
            </a:r>
            <a:r>
              <a:rPr lang="en-US" dirty="0"/>
              <a:t> </a:t>
            </a:r>
            <a:r>
              <a:rPr lang="en-US" dirty="0" err="1"/>
              <a:t>הישן</a:t>
            </a:r>
            <a:r>
              <a:rPr lang="en-US" dirty="0"/>
              <a:t> (Retention </a:t>
            </a:r>
            <a:r>
              <a:rPr lang="en-US" dirty="0" err="1"/>
              <a:t>של</a:t>
            </a:r>
            <a:r>
              <a:rPr lang="en-US" dirty="0"/>
              <a:t> כ-56%). </a:t>
            </a:r>
            <a:r>
              <a:rPr lang="en-US" dirty="0" err="1"/>
              <a:t>לעומת</a:t>
            </a:r>
            <a:r>
              <a:rPr lang="en-US" dirty="0"/>
              <a:t> </a:t>
            </a:r>
            <a:r>
              <a:rPr lang="en-US" dirty="0" err="1"/>
              <a:t>זאת</a:t>
            </a:r>
            <a:r>
              <a:rPr lang="en-US" dirty="0"/>
              <a:t>, QR, </a:t>
            </a:r>
            <a:r>
              <a:rPr lang="en-US" dirty="0" err="1"/>
              <a:t>בניגוד</a:t>
            </a:r>
            <a:r>
              <a:rPr lang="en-US" dirty="0"/>
              <a:t> </a:t>
            </a:r>
            <a:r>
              <a:rPr lang="en-US" dirty="0" err="1"/>
              <a:t>להשערה</a:t>
            </a:r>
            <a:r>
              <a:rPr lang="en-US" dirty="0"/>
              <a:t> </a:t>
            </a:r>
            <a:r>
              <a:rPr lang="en-US" dirty="0" err="1"/>
              <a:t>שלנו</a:t>
            </a:r>
            <a:r>
              <a:rPr lang="en-US" dirty="0"/>
              <a:t>, </a:t>
            </a:r>
            <a:r>
              <a:rPr lang="en-US" dirty="0" err="1"/>
              <a:t>היה</a:t>
            </a:r>
            <a:r>
              <a:rPr lang="en-US" dirty="0"/>
              <a:t> </a:t>
            </a:r>
            <a:r>
              <a:rPr lang="en-US" dirty="0" err="1"/>
              <a:t>איטי</a:t>
            </a:r>
            <a:r>
              <a:rPr lang="en-US" dirty="0"/>
              <a:t> </a:t>
            </a:r>
            <a:r>
              <a:rPr lang="en-US" dirty="0" err="1"/>
              <a:t>יותר</a:t>
            </a:r>
            <a:r>
              <a:rPr lang="en-US" dirty="0"/>
              <a:t> </a:t>
            </a:r>
            <a:r>
              <a:rPr lang="en-US" dirty="0" err="1"/>
              <a:t>ופחות</a:t>
            </a:r>
            <a:r>
              <a:rPr lang="en-US" dirty="0"/>
              <a:t> </a:t>
            </a:r>
            <a:r>
              <a:rPr lang="en-US" dirty="0" err="1"/>
              <a:t>מדויק</a:t>
            </a:r>
            <a:r>
              <a:rPr lang="en-US" dirty="0"/>
              <a:t> </a:t>
            </a:r>
            <a:r>
              <a:rPr lang="en-US" dirty="0" err="1"/>
              <a:t>במימוש</a:t>
            </a:r>
            <a:r>
              <a:rPr lang="en-US" dirty="0"/>
              <a:t> </a:t>
            </a:r>
            <a:r>
              <a:rPr lang="en-US" dirty="0" err="1"/>
              <a:t>הנוכחי</a:t>
            </a:r>
            <a:r>
              <a:rPr lang="en-US" dirty="0"/>
              <a:t>. </a:t>
            </a:r>
            <a:r>
              <a:rPr lang="en-US" dirty="0" err="1"/>
              <a:t>זה</a:t>
            </a:r>
            <a:r>
              <a:rPr lang="en-US" dirty="0"/>
              <a:t> </a:t>
            </a:r>
            <a:r>
              <a:rPr lang="en-US" dirty="0" err="1"/>
              <a:t>מוכיח</a:t>
            </a:r>
            <a:r>
              <a:rPr lang="en-US" dirty="0"/>
              <a:t> </a:t>
            </a:r>
            <a:r>
              <a:rPr lang="en-US" dirty="0" err="1"/>
              <a:t>שלפעמים</a:t>
            </a:r>
            <a:r>
              <a:rPr lang="en-US" dirty="0"/>
              <a:t> </a:t>
            </a:r>
            <a:r>
              <a:rPr lang="en-US" dirty="0" err="1"/>
              <a:t>קירוב</a:t>
            </a:r>
            <a:r>
              <a:rPr lang="en-US" dirty="0"/>
              <a:t> </a:t>
            </a:r>
            <a:r>
              <a:rPr lang="en-US" dirty="0" err="1"/>
              <a:t>סטוכסטי</a:t>
            </a:r>
            <a:r>
              <a:rPr lang="en-US" dirty="0"/>
              <a:t> (</a:t>
            </a:r>
            <a:r>
              <a:rPr lang="en-US" dirty="0" err="1"/>
              <a:t>כמו</a:t>
            </a:r>
            <a:r>
              <a:rPr lang="en-US" dirty="0"/>
              <a:t> ב-RSVD) </a:t>
            </a:r>
            <a:r>
              <a:rPr lang="en-US" dirty="0" err="1"/>
              <a:t>עדיף</a:t>
            </a:r>
            <a:r>
              <a:rPr lang="en-US" dirty="0"/>
              <a:t> </a:t>
            </a:r>
            <a:r>
              <a:rPr lang="en-US" dirty="0" err="1"/>
              <a:t>על</a:t>
            </a:r>
            <a:r>
              <a:rPr lang="en-US" dirty="0"/>
              <a:t> </a:t>
            </a:r>
            <a:r>
              <a:rPr lang="en-US" dirty="0" err="1"/>
              <a:t>פתרון</a:t>
            </a:r>
            <a:r>
              <a:rPr lang="en-US" dirty="0"/>
              <a:t> </a:t>
            </a:r>
            <a:r>
              <a:rPr lang="en-US" dirty="0" err="1"/>
              <a:t>דטרמיניסטי</a:t>
            </a:r>
            <a:r>
              <a:rPr lang="en-US" dirty="0"/>
              <a:t> </a:t>
            </a:r>
            <a:r>
              <a:rPr lang="en-US" dirty="0" err="1"/>
              <a:t>מדויק</a:t>
            </a:r>
            <a:r>
              <a:rPr lang="en-US" dirty="0"/>
              <a:t>.</a:t>
            </a:r>
          </a:p>
          <a:p>
            <a:pPr algn="r" rtl="1"/>
            <a:endParaRPr lang="en-US" dirty="0"/>
          </a:p>
          <a:p>
            <a:pPr algn="r" rtl="1"/>
            <a:r>
              <a:rPr lang="en-US" dirty="0"/>
              <a:t>_________________________________</a:t>
            </a:r>
          </a:p>
          <a:p>
            <a:pPr algn="r" rtl="1"/>
            <a:endParaRPr lang="en-US" dirty="0"/>
          </a:p>
          <a:p>
            <a:pPr algn="r" rtl="1"/>
            <a:r>
              <a:rPr lang="en-US" dirty="0" err="1"/>
              <a:t>הגענו</a:t>
            </a:r>
            <a:r>
              <a:rPr lang="en-US" dirty="0"/>
              <a:t> </a:t>
            </a:r>
            <a:r>
              <a:rPr lang="en-US" dirty="0" err="1"/>
              <a:t>לתוצאות</a:t>
            </a:r>
            <a:r>
              <a:rPr lang="en-US" dirty="0"/>
              <a:t>, </a:t>
            </a:r>
            <a:r>
              <a:rPr lang="en-US" dirty="0" err="1"/>
              <a:t>והן</a:t>
            </a:r>
            <a:r>
              <a:rPr lang="en-US" dirty="0"/>
              <a:t> </a:t>
            </a:r>
            <a:r>
              <a:rPr lang="en-US" dirty="0" err="1"/>
              <a:t>מפתיעות</a:t>
            </a:r>
            <a:r>
              <a:rPr lang="en-US" dirty="0"/>
              <a:t>. </a:t>
            </a:r>
            <a:r>
              <a:rPr lang="en-US" dirty="0" err="1"/>
              <a:t>אני</a:t>
            </a:r>
            <a:r>
              <a:rPr lang="en-US" dirty="0"/>
              <a:t> </a:t>
            </a:r>
            <a:r>
              <a:rPr lang="en-US" dirty="0" err="1"/>
              <a:t>רוצה</a:t>
            </a:r>
            <a:r>
              <a:rPr lang="en-US" dirty="0"/>
              <a:t> </a:t>
            </a:r>
            <a:r>
              <a:rPr lang="en-US" dirty="0" err="1"/>
              <a:t>למקד</a:t>
            </a:r>
            <a:r>
              <a:rPr lang="en-US" dirty="0"/>
              <a:t> </a:t>
            </a:r>
            <a:r>
              <a:rPr lang="en-US" dirty="0" err="1"/>
              <a:t>אתכם</a:t>
            </a:r>
            <a:r>
              <a:rPr lang="en-US" dirty="0"/>
              <a:t> </a:t>
            </a:r>
            <a:r>
              <a:rPr lang="en-US" dirty="0" err="1"/>
              <a:t>בשני</a:t>
            </a:r>
            <a:r>
              <a:rPr lang="en-US" dirty="0"/>
              <a:t> </a:t>
            </a:r>
            <a:r>
              <a:rPr lang="en-US" dirty="0" err="1"/>
              <a:t>גרפים</a:t>
            </a:r>
            <a:r>
              <a:rPr lang="en-US" dirty="0"/>
              <a:t> </a:t>
            </a:r>
            <a:r>
              <a:rPr lang="en-US" dirty="0" err="1"/>
              <a:t>עיקריים</a:t>
            </a:r>
            <a:r>
              <a:rPr lang="en-US" dirty="0"/>
              <a:t>: </a:t>
            </a:r>
            <a:r>
              <a:rPr lang="en-US" dirty="0" err="1"/>
              <a:t>בצד</a:t>
            </a:r>
            <a:r>
              <a:rPr lang="en-US" dirty="0"/>
              <a:t> </a:t>
            </a:r>
            <a:r>
              <a:rPr lang="en-US" dirty="0" err="1"/>
              <a:t>ימין</a:t>
            </a:r>
            <a:r>
              <a:rPr lang="en-US" dirty="0"/>
              <a:t>, </a:t>
            </a:r>
            <a:r>
              <a:rPr lang="en-US" dirty="0" err="1"/>
              <a:t>אתם</a:t>
            </a:r>
            <a:r>
              <a:rPr lang="en-US" dirty="0"/>
              <a:t> </a:t>
            </a:r>
            <a:r>
              <a:rPr lang="en-US" dirty="0" err="1"/>
              <a:t>רואים</a:t>
            </a:r>
            <a:r>
              <a:rPr lang="en-US" dirty="0"/>
              <a:t> </a:t>
            </a:r>
            <a:r>
              <a:rPr lang="en-US" dirty="0" err="1"/>
              <a:t>את</a:t>
            </a:r>
            <a:r>
              <a:rPr lang="en-US" dirty="0"/>
              <a:t> </a:t>
            </a:r>
            <a:r>
              <a:rPr lang="en-US" dirty="0" err="1"/>
              <a:t>זמן</a:t>
            </a:r>
            <a:r>
              <a:rPr lang="en-US" dirty="0"/>
              <a:t> </a:t>
            </a:r>
            <a:r>
              <a:rPr lang="en-US" dirty="0" err="1"/>
              <a:t>החישוב</a:t>
            </a:r>
            <a:r>
              <a:rPr lang="en-US" dirty="0"/>
              <a:t> (Prep Time). </a:t>
            </a:r>
            <a:r>
              <a:rPr lang="en-US" dirty="0" err="1"/>
              <a:t>שימו</a:t>
            </a:r>
            <a:r>
              <a:rPr lang="en-US" dirty="0"/>
              <a:t> </a:t>
            </a:r>
            <a:r>
              <a:rPr lang="en-US" dirty="0" err="1"/>
              <a:t>לב</a:t>
            </a:r>
            <a:r>
              <a:rPr lang="en-US" dirty="0"/>
              <a:t> </a:t>
            </a:r>
            <a:r>
              <a:rPr lang="en-US" dirty="0" err="1"/>
              <a:t>לעמודה</a:t>
            </a:r>
            <a:r>
              <a:rPr lang="en-US" dirty="0"/>
              <a:t> </a:t>
            </a:r>
            <a:r>
              <a:rPr lang="en-US" dirty="0" err="1"/>
              <a:t>של</a:t>
            </a:r>
            <a:r>
              <a:rPr lang="en-US" dirty="0"/>
              <a:t> RSVD כ-0.4 </a:t>
            </a:r>
            <a:r>
              <a:rPr lang="en-US" dirty="0" err="1"/>
              <a:t>שניות</a:t>
            </a:r>
            <a:r>
              <a:rPr lang="en-US" dirty="0"/>
              <a:t> – </a:t>
            </a:r>
            <a:r>
              <a:rPr lang="en-US" dirty="0" err="1"/>
              <a:t>היא</a:t>
            </a:r>
            <a:r>
              <a:rPr lang="en-US" dirty="0"/>
              <a:t> </a:t>
            </a:r>
            <a:r>
              <a:rPr lang="en-US" dirty="0" err="1"/>
              <a:t>המהירה</a:t>
            </a:r>
            <a:r>
              <a:rPr lang="en-US" dirty="0"/>
              <a:t> </a:t>
            </a:r>
            <a:r>
              <a:rPr lang="en-US" dirty="0" err="1"/>
              <a:t>ביותר</a:t>
            </a:r>
            <a:r>
              <a:rPr lang="en-US" dirty="0"/>
              <a:t> </a:t>
            </a:r>
            <a:r>
              <a:rPr lang="en-US" dirty="0" err="1"/>
              <a:t>בפער</a:t>
            </a:r>
            <a:r>
              <a:rPr lang="en-US" dirty="0"/>
              <a:t> </a:t>
            </a:r>
            <a:r>
              <a:rPr lang="en-US" dirty="0" err="1"/>
              <a:t>ניכר</a:t>
            </a:r>
            <a:r>
              <a:rPr lang="en-US" dirty="0"/>
              <a:t>, </a:t>
            </a:r>
            <a:r>
              <a:rPr lang="en-US" dirty="0" err="1"/>
              <a:t>פי</a:t>
            </a:r>
            <a:r>
              <a:rPr lang="en-US" dirty="0"/>
              <a:t> </a:t>
            </a:r>
            <a:r>
              <a:rPr lang="en-US" dirty="0" err="1"/>
              <a:t>יותר</a:t>
            </a:r>
            <a:r>
              <a:rPr lang="en-US" dirty="0"/>
              <a:t> מ-2 </a:t>
            </a:r>
            <a:r>
              <a:rPr lang="en-US" dirty="0" err="1"/>
              <a:t>יותר</a:t>
            </a:r>
            <a:r>
              <a:rPr lang="en-US" dirty="0"/>
              <a:t> </a:t>
            </a:r>
            <a:r>
              <a:rPr lang="en-US" dirty="0" err="1"/>
              <a:t>מהירה</a:t>
            </a:r>
            <a:r>
              <a:rPr lang="en-US" dirty="0"/>
              <a:t> מ-SVD </a:t>
            </a:r>
            <a:r>
              <a:rPr lang="en-US" dirty="0" err="1"/>
              <a:t>רגיל</a:t>
            </a:r>
            <a:r>
              <a:rPr lang="en-US" dirty="0"/>
              <a:t>. </a:t>
            </a:r>
            <a:r>
              <a:rPr lang="en-US" dirty="0" err="1"/>
              <a:t>באופן</a:t>
            </a:r>
            <a:r>
              <a:rPr lang="en-US" dirty="0"/>
              <a:t> </a:t>
            </a:r>
            <a:r>
              <a:rPr lang="en-US" dirty="0" err="1"/>
              <a:t>מפתיע</a:t>
            </a:r>
            <a:r>
              <a:rPr lang="en-US" dirty="0"/>
              <a:t>, QR כ-2.5 </a:t>
            </a:r>
            <a:r>
              <a:rPr lang="en-US" dirty="0" err="1"/>
              <a:t>שניות</a:t>
            </a:r>
            <a:r>
              <a:rPr lang="en-US" dirty="0"/>
              <a:t> </a:t>
            </a:r>
            <a:r>
              <a:rPr lang="en-US" dirty="0" err="1"/>
              <a:t>היה</a:t>
            </a:r>
            <a:r>
              <a:rPr lang="en-US" dirty="0"/>
              <a:t> </a:t>
            </a:r>
            <a:r>
              <a:rPr lang="en-US" dirty="0" err="1"/>
              <a:t>האיטי</a:t>
            </a:r>
            <a:r>
              <a:rPr lang="en-US" dirty="0"/>
              <a:t> </a:t>
            </a:r>
            <a:r>
              <a:rPr lang="en-US" dirty="0" err="1"/>
              <a:t>ביותר</a:t>
            </a:r>
            <a:r>
              <a:rPr lang="en-US" dirty="0"/>
              <a:t>, </a:t>
            </a:r>
            <a:r>
              <a:rPr lang="en-US" dirty="0" err="1"/>
              <a:t>כנראה</a:t>
            </a:r>
            <a:r>
              <a:rPr lang="en-US" dirty="0"/>
              <a:t> </a:t>
            </a:r>
            <a:r>
              <a:rPr lang="en-US" dirty="0" err="1"/>
              <a:t>עקב</a:t>
            </a:r>
            <a:r>
              <a:rPr lang="en-US" dirty="0"/>
              <a:t> </a:t>
            </a:r>
            <a:r>
              <a:rPr lang="en-US" dirty="0" err="1"/>
              <a:t>המימוש</a:t>
            </a:r>
            <a:r>
              <a:rPr lang="en-US" dirty="0"/>
              <a:t> </a:t>
            </a:r>
            <a:r>
              <a:rPr lang="en-US" dirty="0" err="1"/>
              <a:t>הספציפי</a:t>
            </a:r>
            <a:r>
              <a:rPr lang="en-US" dirty="0"/>
              <a:t> ב-</a:t>
            </a:r>
            <a:r>
              <a:rPr lang="en-US" dirty="0" err="1"/>
              <a:t>PyTorch</a:t>
            </a:r>
            <a:r>
              <a:rPr lang="en-US" dirty="0"/>
              <a:t> </a:t>
            </a:r>
            <a:r>
              <a:rPr lang="en-US" dirty="0" err="1"/>
              <a:t>שאינו</a:t>
            </a:r>
            <a:r>
              <a:rPr lang="en-US" dirty="0"/>
              <a:t> </a:t>
            </a:r>
            <a:r>
              <a:rPr lang="en-US" dirty="0" err="1"/>
              <a:t>אופטימלי</a:t>
            </a:r>
            <a:r>
              <a:rPr lang="en-US" dirty="0"/>
              <a:t> ל-GPU </a:t>
            </a:r>
            <a:r>
              <a:rPr lang="en-US" dirty="0" err="1"/>
              <a:t>כמו</a:t>
            </a:r>
            <a:r>
              <a:rPr lang="en-US" dirty="0"/>
              <a:t> ה-SVD. </a:t>
            </a:r>
            <a:r>
              <a:rPr lang="en-US" dirty="0" err="1"/>
              <a:t>בצד</a:t>
            </a:r>
            <a:r>
              <a:rPr lang="en-US" dirty="0"/>
              <a:t> </a:t>
            </a:r>
            <a:r>
              <a:rPr lang="en-US" dirty="0" err="1"/>
              <a:t>שמאל</a:t>
            </a:r>
            <a:r>
              <a:rPr lang="en-US" dirty="0"/>
              <a:t>, </a:t>
            </a:r>
            <a:r>
              <a:rPr lang="en-US" dirty="0" err="1"/>
              <a:t>רואים</a:t>
            </a:r>
            <a:r>
              <a:rPr lang="en-US" dirty="0"/>
              <a:t> </a:t>
            </a:r>
            <a:r>
              <a:rPr lang="en-US" dirty="0" err="1"/>
              <a:t>את</a:t>
            </a:r>
            <a:r>
              <a:rPr lang="en-US" dirty="0"/>
              <a:t> </a:t>
            </a:r>
            <a:r>
              <a:rPr lang="en-US" dirty="0" err="1"/>
              <a:t>הדיוק</a:t>
            </a:r>
            <a:r>
              <a:rPr lang="en-US" dirty="0"/>
              <a:t> </a:t>
            </a:r>
            <a:r>
              <a:rPr lang="en-US" dirty="0" err="1"/>
              <a:t>על</a:t>
            </a:r>
            <a:r>
              <a:rPr lang="en-US" dirty="0"/>
              <a:t> </a:t>
            </a:r>
            <a:r>
              <a:rPr lang="en-US" dirty="0" err="1"/>
              <a:t>המשימה</a:t>
            </a:r>
            <a:r>
              <a:rPr lang="en-US" dirty="0"/>
              <a:t> </a:t>
            </a:r>
            <a:r>
              <a:rPr lang="en-US" dirty="0" err="1"/>
              <a:t>הישנה</a:t>
            </a:r>
            <a:r>
              <a:rPr lang="en-US" dirty="0"/>
              <a:t> (Retention) </a:t>
            </a:r>
            <a:r>
              <a:rPr lang="en-US" dirty="0" err="1"/>
              <a:t>לאורך</a:t>
            </a:r>
            <a:r>
              <a:rPr lang="en-US" dirty="0"/>
              <a:t> </a:t>
            </a:r>
            <a:r>
              <a:rPr lang="en-US" dirty="0" err="1"/>
              <a:t>זמן</a:t>
            </a:r>
            <a:r>
              <a:rPr lang="en-US" dirty="0"/>
              <a:t>. </a:t>
            </a:r>
            <a:r>
              <a:rPr lang="en-US" dirty="0" err="1"/>
              <a:t>הקו</a:t>
            </a:r>
            <a:r>
              <a:rPr lang="en-US" dirty="0"/>
              <a:t> </a:t>
            </a:r>
            <a:r>
              <a:rPr lang="en-US" dirty="0" err="1"/>
              <a:t>של</a:t>
            </a:r>
            <a:r>
              <a:rPr lang="en-US" dirty="0"/>
              <a:t> RSVD </a:t>
            </a:r>
            <a:r>
              <a:rPr lang="en-US" dirty="0" err="1"/>
              <a:t>הוא</a:t>
            </a:r>
            <a:r>
              <a:rPr lang="en-US" dirty="0"/>
              <a:t> </a:t>
            </a:r>
            <a:r>
              <a:rPr lang="en-US" dirty="0" err="1"/>
              <a:t>העליון</a:t>
            </a:r>
            <a:r>
              <a:rPr lang="en-US" dirty="0"/>
              <a:t> </a:t>
            </a:r>
            <a:r>
              <a:rPr lang="en-US" dirty="0" err="1"/>
              <a:t>ביותר</a:t>
            </a:r>
            <a:r>
              <a:rPr lang="en-US" dirty="0"/>
              <a:t> (</a:t>
            </a:r>
            <a:r>
              <a:rPr lang="en-US" dirty="0" err="1"/>
              <a:t>מגיע</a:t>
            </a:r>
            <a:r>
              <a:rPr lang="en-US" dirty="0"/>
              <a:t> ל-56% </a:t>
            </a:r>
            <a:r>
              <a:rPr lang="en-US" dirty="0" err="1"/>
              <a:t>דיוק</a:t>
            </a:r>
            <a:r>
              <a:rPr lang="en-US" dirty="0"/>
              <a:t>). </a:t>
            </a:r>
            <a:r>
              <a:rPr lang="en-US" dirty="0" err="1"/>
              <a:t>כלומר</a:t>
            </a:r>
            <a:r>
              <a:rPr lang="en-US" dirty="0"/>
              <a:t>, </a:t>
            </a:r>
            <a:r>
              <a:rPr lang="en-US" dirty="0" err="1"/>
              <a:t>השיטה</a:t>
            </a:r>
            <a:r>
              <a:rPr lang="en-US" dirty="0"/>
              <a:t> </a:t>
            </a:r>
            <a:r>
              <a:rPr lang="en-US" dirty="0" err="1"/>
              <a:t>שהיא</a:t>
            </a:r>
            <a:r>
              <a:rPr lang="en-US" dirty="0"/>
              <a:t> </a:t>
            </a:r>
            <a:r>
              <a:rPr lang="en-US" dirty="0" err="1"/>
              <a:t>הכי</a:t>
            </a:r>
            <a:r>
              <a:rPr lang="en-US" dirty="0"/>
              <a:t> </a:t>
            </a:r>
            <a:r>
              <a:rPr lang="en-US" dirty="0" err="1"/>
              <a:t>מהירה</a:t>
            </a:r>
            <a:r>
              <a:rPr lang="en-US" dirty="0"/>
              <a:t> </a:t>
            </a:r>
            <a:r>
              <a:rPr lang="en-US" dirty="0" err="1"/>
              <a:t>ומשתמשת</a:t>
            </a:r>
            <a:r>
              <a:rPr lang="en-US" dirty="0"/>
              <a:t> </a:t>
            </a:r>
            <a:r>
              <a:rPr lang="en-US" dirty="0" err="1"/>
              <a:t>בקירובים</a:t>
            </a:r>
            <a:r>
              <a:rPr lang="en-US" dirty="0"/>
              <a:t> </a:t>
            </a:r>
            <a:r>
              <a:rPr lang="en-US" dirty="0" err="1"/>
              <a:t>אקראיים</a:t>
            </a:r>
            <a:r>
              <a:rPr lang="en-US" dirty="0"/>
              <a:t>, </a:t>
            </a:r>
            <a:r>
              <a:rPr lang="en-US" dirty="0" err="1"/>
              <a:t>הצליחה</a:t>
            </a:r>
            <a:r>
              <a:rPr lang="en-US" dirty="0"/>
              <a:t> '</a:t>
            </a:r>
            <a:r>
              <a:rPr lang="en-US" dirty="0" err="1"/>
              <a:t>לתפוס</a:t>
            </a:r>
            <a:r>
              <a:rPr lang="en-US" dirty="0"/>
              <a:t>' </a:t>
            </a:r>
            <a:r>
              <a:rPr lang="en-US" dirty="0" err="1"/>
              <a:t>את</a:t>
            </a:r>
            <a:r>
              <a:rPr lang="en-US" dirty="0"/>
              <a:t> </a:t>
            </a:r>
            <a:r>
              <a:rPr lang="en-US" dirty="0" err="1"/>
              <a:t>המידע</a:t>
            </a:r>
            <a:r>
              <a:rPr lang="en-US" dirty="0"/>
              <a:t> </a:t>
            </a:r>
            <a:r>
              <a:rPr lang="en-US" dirty="0" err="1"/>
              <a:t>החשוב</a:t>
            </a:r>
            <a:r>
              <a:rPr lang="en-US" dirty="0"/>
              <a:t> </a:t>
            </a:r>
            <a:r>
              <a:rPr lang="en-US" dirty="0" err="1"/>
              <a:t>בצורה</a:t>
            </a:r>
            <a:r>
              <a:rPr lang="en-US" dirty="0"/>
              <a:t> </a:t>
            </a:r>
            <a:r>
              <a:rPr lang="en-US" dirty="0" err="1"/>
              <a:t>הטובה</a:t>
            </a:r>
            <a:r>
              <a:rPr lang="en-US" dirty="0"/>
              <a:t> </a:t>
            </a:r>
            <a:r>
              <a:rPr lang="en-US" dirty="0" err="1"/>
              <a:t>ביותר</a:t>
            </a:r>
            <a:r>
              <a:rPr lang="en-US" dirty="0"/>
              <a:t> </a:t>
            </a:r>
            <a:r>
              <a:rPr lang="en-US" dirty="0" err="1"/>
              <a:t>ולמנוע</a:t>
            </a:r>
            <a:r>
              <a:rPr lang="en-US" dirty="0"/>
              <a:t> </a:t>
            </a:r>
            <a:r>
              <a:rPr lang="en-US" dirty="0" err="1"/>
              <a:t>שכחה</a:t>
            </a:r>
            <a:r>
              <a:rPr lang="en-US" dirty="0"/>
              <a:t>, </a:t>
            </a:r>
            <a:r>
              <a:rPr lang="en-US" dirty="0" err="1"/>
              <a:t>אפילו</a:t>
            </a:r>
            <a:r>
              <a:rPr lang="en-US" dirty="0"/>
              <a:t> </a:t>
            </a:r>
            <a:r>
              <a:rPr lang="en-US" dirty="0" err="1"/>
              <a:t>טוב</a:t>
            </a:r>
            <a:r>
              <a:rPr lang="en-US" dirty="0"/>
              <a:t> </a:t>
            </a:r>
            <a:r>
              <a:rPr lang="en-US" dirty="0" err="1"/>
              <a:t>יותר</a:t>
            </a:r>
            <a:r>
              <a:rPr lang="en-US" dirty="0"/>
              <a:t> </a:t>
            </a:r>
            <a:r>
              <a:rPr lang="en-US" dirty="0" err="1"/>
              <a:t>מחישוב</a:t>
            </a:r>
            <a:r>
              <a:rPr lang="en-US" dirty="0"/>
              <a:t> </a:t>
            </a:r>
            <a:r>
              <a:rPr lang="en-US" dirty="0" err="1"/>
              <a:t>מדויק</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algn="r" rtl="1"/>
            <a:r>
              <a:rPr lang="en-US" dirty="0" err="1"/>
              <a:t>התוצאות</a:t>
            </a:r>
            <a:r>
              <a:rPr lang="en-US" dirty="0"/>
              <a:t> </a:t>
            </a:r>
            <a:r>
              <a:rPr lang="en-US" dirty="0" err="1"/>
              <a:t>מראות</a:t>
            </a:r>
            <a:r>
              <a:rPr lang="en-US" dirty="0"/>
              <a:t> </a:t>
            </a:r>
            <a:r>
              <a:rPr lang="he-IL" dirty="0"/>
              <a:t>שאכן ניתן לבצע תהליך כמו שהוצע במאמר גם בעולם עיבוד התמונה.</a:t>
            </a:r>
          </a:p>
          <a:p>
            <a:pPr algn="r" rtl="1"/>
            <a:r>
              <a:rPr lang="he-IL" dirty="0"/>
              <a:t>בנוסף, בצלחנו למצוא אלגוריתם מהיר וזול יותר שנותן תוצאות טובות ומקטין את השכיחה ב30%.</a:t>
            </a:r>
            <a:r>
              <a:rPr lang="en-US" dirty="0"/>
              <a:t> </a:t>
            </a:r>
          </a:p>
          <a:p>
            <a:pPr algn="r" rtl="1"/>
            <a:endParaRPr lang="en-US" dirty="0"/>
          </a:p>
          <a:p>
            <a:pPr algn="r" rtl="1"/>
            <a:r>
              <a:rPr lang="he-IL" dirty="0"/>
              <a:t>ועדיין, אנחנו מאמינים ליישום השיטה </a:t>
            </a:r>
            <a:r>
              <a:rPr lang="he-IL" dirty="0" err="1"/>
              <a:t>באיזורים</a:t>
            </a:r>
            <a:r>
              <a:rPr lang="he-IL" dirty="0"/>
              <a:t> של עיבור תמונה כן מגיע עם כמה מגבלות אפשריות שחשוב לשים לב אליהן, למשל העובדה ש</a:t>
            </a:r>
            <a:r>
              <a:rPr lang="en-US" dirty="0" err="1"/>
              <a:t>ברשתות</a:t>
            </a:r>
            <a:r>
              <a:rPr lang="en-US" dirty="0"/>
              <a:t> </a:t>
            </a:r>
            <a:r>
              <a:rPr lang="en-US" dirty="0" err="1"/>
              <a:t>קונבולוציה</a:t>
            </a:r>
            <a:r>
              <a:rPr lang="en-US" dirty="0"/>
              <a:t> </a:t>
            </a:r>
            <a:r>
              <a:rPr lang="he-IL" dirty="0"/>
              <a:t>(</a:t>
            </a:r>
            <a:r>
              <a:rPr lang="en-US" dirty="0" err="1"/>
              <a:t>כמו</a:t>
            </a:r>
            <a:r>
              <a:rPr lang="en-US" dirty="0"/>
              <a:t> </a:t>
            </a:r>
            <a:r>
              <a:rPr lang="en-US" dirty="0" err="1"/>
              <a:t>ResNet</a:t>
            </a:r>
            <a:r>
              <a:rPr lang="he-IL" dirty="0"/>
              <a:t>), </a:t>
            </a:r>
            <a:r>
              <a:rPr lang="en-US" dirty="0" err="1"/>
              <a:t>המידע</a:t>
            </a:r>
            <a:r>
              <a:rPr lang="en-US" dirty="0"/>
              <a:t> </a:t>
            </a:r>
            <a:r>
              <a:rPr lang="en-US" dirty="0" err="1"/>
              <a:t>המרחבי</a:t>
            </a:r>
            <a:r>
              <a:rPr lang="en-US" dirty="0"/>
              <a:t> </a:t>
            </a:r>
            <a:r>
              <a:rPr lang="en-US" dirty="0" err="1"/>
              <a:t>הוא</a:t>
            </a:r>
            <a:r>
              <a:rPr lang="en-US" dirty="0"/>
              <a:t> </a:t>
            </a:r>
            <a:r>
              <a:rPr lang="en-US" dirty="0" err="1"/>
              <a:t>קריטי</a:t>
            </a:r>
            <a:r>
              <a:rPr lang="he-IL" dirty="0"/>
              <a:t>. </a:t>
            </a:r>
            <a:r>
              <a:rPr lang="en-US" dirty="0" err="1"/>
              <a:t>כדי</a:t>
            </a:r>
            <a:r>
              <a:rPr lang="en-US" dirty="0"/>
              <a:t> </a:t>
            </a:r>
            <a:r>
              <a:rPr lang="en-US" dirty="0" err="1"/>
              <a:t>לבצע</a:t>
            </a:r>
            <a:r>
              <a:rPr lang="en-US" dirty="0"/>
              <a:t> </a:t>
            </a:r>
            <a:r>
              <a:rPr lang="he-IL" dirty="0"/>
              <a:t>פירוק מטריצות </a:t>
            </a:r>
            <a:r>
              <a:rPr lang="en-US" dirty="0" err="1"/>
              <a:t>נאלצנו</a:t>
            </a:r>
            <a:r>
              <a:rPr lang="en-US" dirty="0"/>
              <a:t> </a:t>
            </a:r>
            <a:r>
              <a:rPr lang="en-US" dirty="0" err="1"/>
              <a:t>לבצע</a:t>
            </a:r>
            <a:r>
              <a:rPr lang="en-US" dirty="0"/>
              <a:t> '</a:t>
            </a:r>
            <a:r>
              <a:rPr lang="en-US" dirty="0" err="1"/>
              <a:t>השטחה</a:t>
            </a:r>
            <a:r>
              <a:rPr lang="en-US" dirty="0"/>
              <a:t>’</a:t>
            </a:r>
            <a:r>
              <a:rPr lang="he-IL" dirty="0"/>
              <a:t> </a:t>
            </a:r>
            <a:r>
              <a:rPr lang="en-US" dirty="0" err="1"/>
              <a:t>של</a:t>
            </a:r>
            <a:r>
              <a:rPr lang="en-US" dirty="0"/>
              <a:t> </a:t>
            </a:r>
            <a:r>
              <a:rPr lang="en-US" dirty="0" err="1"/>
              <a:t>הפילטרים</a:t>
            </a:r>
            <a:r>
              <a:rPr lang="en-US" dirty="0"/>
              <a:t> </a:t>
            </a:r>
            <a:r>
              <a:rPr lang="en-US" dirty="0" err="1"/>
              <a:t>למטריצה</a:t>
            </a:r>
            <a:r>
              <a:rPr lang="en-US" dirty="0"/>
              <a:t> </a:t>
            </a:r>
            <a:r>
              <a:rPr lang="en-US" dirty="0" err="1"/>
              <a:t>דו-ממדית</a:t>
            </a:r>
            <a:r>
              <a:rPr lang="en-US" dirty="0"/>
              <a:t>. </a:t>
            </a:r>
            <a:r>
              <a:rPr lang="en-US" dirty="0" err="1"/>
              <a:t>הפעולה</a:t>
            </a:r>
            <a:r>
              <a:rPr lang="en-US" dirty="0"/>
              <a:t> </a:t>
            </a:r>
            <a:r>
              <a:rPr lang="en-US" dirty="0" err="1"/>
              <a:t>הזו</a:t>
            </a:r>
            <a:r>
              <a:rPr lang="en-US" dirty="0"/>
              <a:t> </a:t>
            </a:r>
            <a:r>
              <a:rPr lang="en-US" dirty="0" err="1"/>
              <a:t>שוברת</a:t>
            </a:r>
            <a:r>
              <a:rPr lang="en-US" dirty="0"/>
              <a:t> </a:t>
            </a:r>
            <a:r>
              <a:rPr lang="en-US" dirty="0" err="1"/>
              <a:t>את</a:t>
            </a:r>
            <a:r>
              <a:rPr lang="en-US" dirty="0"/>
              <a:t> </a:t>
            </a:r>
            <a:r>
              <a:rPr lang="en-US" dirty="0" err="1"/>
              <a:t>הקשרים</a:t>
            </a:r>
            <a:r>
              <a:rPr lang="en-US" dirty="0"/>
              <a:t> </a:t>
            </a:r>
            <a:r>
              <a:rPr lang="en-US" dirty="0" err="1"/>
              <a:t>המרחביים</a:t>
            </a:r>
            <a:r>
              <a:rPr lang="en-US" dirty="0"/>
              <a:t>, </a:t>
            </a:r>
            <a:r>
              <a:rPr lang="en-US" dirty="0" err="1"/>
              <a:t>ולכן</a:t>
            </a:r>
            <a:r>
              <a:rPr lang="en-US" dirty="0"/>
              <a:t> ה</a:t>
            </a:r>
            <a:r>
              <a:rPr lang="he-IL" dirty="0"/>
              <a:t>פירוק </a:t>
            </a:r>
            <a:r>
              <a:rPr lang="en-US" dirty="0" err="1"/>
              <a:t>מפספס</a:t>
            </a:r>
            <a:r>
              <a:rPr lang="en-US" dirty="0"/>
              <a:t> </a:t>
            </a:r>
            <a:r>
              <a:rPr lang="en-US" dirty="0" err="1"/>
              <a:t>חלק</a:t>
            </a:r>
            <a:r>
              <a:rPr lang="en-US" dirty="0"/>
              <a:t> </a:t>
            </a:r>
            <a:r>
              <a:rPr lang="en-US" dirty="0" err="1"/>
              <a:t>מהותי</a:t>
            </a:r>
            <a:r>
              <a:rPr lang="en-US" dirty="0"/>
              <a:t> </a:t>
            </a:r>
            <a:r>
              <a:rPr lang="en-US" dirty="0" err="1"/>
              <a:t>מה'ידע</a:t>
            </a:r>
            <a:r>
              <a:rPr lang="en-US" dirty="0"/>
              <a:t>' </a:t>
            </a:r>
            <a:r>
              <a:rPr lang="en-US" dirty="0" err="1"/>
              <a:t>של</a:t>
            </a:r>
            <a:r>
              <a:rPr lang="en-US" dirty="0"/>
              <a:t> </a:t>
            </a:r>
            <a:r>
              <a:rPr lang="en-US" dirty="0" err="1"/>
              <a:t>הרשת</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4.sv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sv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TextBox 2"/>
          <p:cNvSpPr txBox="1"/>
          <p:nvPr/>
        </p:nvSpPr>
        <p:spPr>
          <a:xfrm>
            <a:off x="808799" y="2640518"/>
            <a:ext cx="10155281" cy="4040417"/>
          </a:xfrm>
          <a:prstGeom prst="rect">
            <a:avLst/>
          </a:prstGeom>
        </p:spPr>
        <p:txBody>
          <a:bodyPr lIns="0" tIns="0" rIns="0" bIns="0" rtlCol="0" anchor="t">
            <a:spAutoFit/>
          </a:bodyPr>
          <a:lstStyle/>
          <a:p>
            <a:pPr algn="l">
              <a:lnSpc>
                <a:spcPts val="10595"/>
              </a:lnSpc>
            </a:pPr>
            <a:r>
              <a:rPr lang="en-US" sz="7966" dirty="0">
                <a:solidFill>
                  <a:srgbClr val="191919"/>
                </a:solidFill>
                <a:latin typeface="Advanit"/>
                <a:ea typeface="Advanit"/>
                <a:cs typeface="Advanit"/>
                <a:sym typeface="Advanit"/>
              </a:rPr>
              <a:t>Optimizing Subspace Constraints for Continual Learning</a:t>
            </a:r>
          </a:p>
        </p:txBody>
      </p:sp>
      <p:grpSp>
        <p:nvGrpSpPr>
          <p:cNvPr id="3" name="Group 3"/>
          <p:cNvGrpSpPr/>
          <p:nvPr/>
        </p:nvGrpSpPr>
        <p:grpSpPr>
          <a:xfrm>
            <a:off x="808799" y="7168301"/>
            <a:ext cx="7715019" cy="762386"/>
            <a:chOff x="0" y="0"/>
            <a:chExt cx="1470971" cy="145359"/>
          </a:xfrm>
        </p:grpSpPr>
        <p:sp>
          <p:nvSpPr>
            <p:cNvPr id="4" name="Freeform 4"/>
            <p:cNvSpPr/>
            <p:nvPr/>
          </p:nvSpPr>
          <p:spPr>
            <a:xfrm>
              <a:off x="0" y="0"/>
              <a:ext cx="1470971" cy="145359"/>
            </a:xfrm>
            <a:custGeom>
              <a:avLst/>
              <a:gdLst/>
              <a:ahLst/>
              <a:cxnLst/>
              <a:rect l="l" t="t" r="r" b="b"/>
              <a:pathLst>
                <a:path w="1470971" h="145359">
                  <a:moveTo>
                    <a:pt x="0" y="0"/>
                  </a:moveTo>
                  <a:lnTo>
                    <a:pt x="1470971" y="0"/>
                  </a:lnTo>
                  <a:lnTo>
                    <a:pt x="1470971" y="145359"/>
                  </a:lnTo>
                  <a:lnTo>
                    <a:pt x="0" y="145359"/>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5" name="TextBox 5"/>
            <p:cNvSpPr txBox="1"/>
            <p:nvPr/>
          </p:nvSpPr>
          <p:spPr>
            <a:xfrm>
              <a:off x="0" y="-38100"/>
              <a:ext cx="1470971" cy="183459"/>
            </a:xfrm>
            <a:prstGeom prst="rect">
              <a:avLst/>
            </a:prstGeom>
          </p:spPr>
          <p:txBody>
            <a:bodyPr lIns="70173" tIns="70173" rIns="70173" bIns="70173" rtlCol="0" anchor="ctr"/>
            <a:lstStyle/>
            <a:p>
              <a:pPr algn="ctr">
                <a:lnSpc>
                  <a:spcPts val="2940"/>
                </a:lnSpc>
                <a:spcBef>
                  <a:spcPct val="0"/>
                </a:spcBef>
              </a:pPr>
              <a:endParaRPr/>
            </a:p>
          </p:txBody>
        </p:sp>
      </p:grpSp>
      <p:grpSp>
        <p:nvGrpSpPr>
          <p:cNvPr id="6" name="Group 6"/>
          <p:cNvGrpSpPr/>
          <p:nvPr/>
        </p:nvGrpSpPr>
        <p:grpSpPr>
          <a:xfrm>
            <a:off x="8842355" y="7168301"/>
            <a:ext cx="762386" cy="762386"/>
            <a:chOff x="0" y="0"/>
            <a:chExt cx="145359" cy="145359"/>
          </a:xfrm>
        </p:grpSpPr>
        <p:sp>
          <p:nvSpPr>
            <p:cNvPr id="7" name="Freeform 7"/>
            <p:cNvSpPr/>
            <p:nvPr/>
          </p:nvSpPr>
          <p:spPr>
            <a:xfrm>
              <a:off x="0" y="0"/>
              <a:ext cx="145359" cy="145359"/>
            </a:xfrm>
            <a:custGeom>
              <a:avLst/>
              <a:gdLst/>
              <a:ahLst/>
              <a:cxnLst/>
              <a:rect l="l" t="t" r="r" b="b"/>
              <a:pathLst>
                <a:path w="145359" h="145359">
                  <a:moveTo>
                    <a:pt x="0" y="0"/>
                  </a:moveTo>
                  <a:lnTo>
                    <a:pt x="145359" y="0"/>
                  </a:lnTo>
                  <a:lnTo>
                    <a:pt x="145359" y="145359"/>
                  </a:lnTo>
                  <a:lnTo>
                    <a:pt x="0" y="145359"/>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8" name="TextBox 8"/>
            <p:cNvSpPr txBox="1"/>
            <p:nvPr/>
          </p:nvSpPr>
          <p:spPr>
            <a:xfrm>
              <a:off x="0" y="57150"/>
              <a:ext cx="145359" cy="88209"/>
            </a:xfrm>
            <a:prstGeom prst="rect">
              <a:avLst/>
            </a:prstGeom>
          </p:spPr>
          <p:txBody>
            <a:bodyPr lIns="70173" tIns="70173" rIns="70173" bIns="70173" rtlCol="0" anchor="ctr"/>
            <a:lstStyle/>
            <a:p>
              <a:pPr algn="ctr">
                <a:lnSpc>
                  <a:spcPts val="1995"/>
                </a:lnSpc>
              </a:pPr>
              <a:endParaRPr/>
            </a:p>
          </p:txBody>
        </p:sp>
      </p:grpSp>
      <p:sp>
        <p:nvSpPr>
          <p:cNvPr id="9" name="Freeform 9"/>
          <p:cNvSpPr/>
          <p:nvPr/>
        </p:nvSpPr>
        <p:spPr>
          <a:xfrm>
            <a:off x="9006450" y="7332396"/>
            <a:ext cx="434196" cy="434196"/>
          </a:xfrm>
          <a:custGeom>
            <a:avLst/>
            <a:gdLst/>
            <a:ahLst/>
            <a:cxnLst/>
            <a:rect l="l" t="t" r="r" b="b"/>
            <a:pathLst>
              <a:path w="434196" h="434196">
                <a:moveTo>
                  <a:pt x="0" y="0"/>
                </a:moveTo>
                <a:lnTo>
                  <a:pt x="434196" y="0"/>
                </a:lnTo>
                <a:lnTo>
                  <a:pt x="434196" y="434196"/>
                </a:lnTo>
                <a:lnTo>
                  <a:pt x="0" y="4341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10" name="Freeform 10"/>
          <p:cNvSpPr/>
          <p:nvPr/>
        </p:nvSpPr>
        <p:spPr>
          <a:xfrm flipH="1">
            <a:off x="9517672" y="-1642296"/>
            <a:ext cx="11412403" cy="14400509"/>
          </a:xfrm>
          <a:custGeom>
            <a:avLst/>
            <a:gdLst/>
            <a:ahLst/>
            <a:cxnLst/>
            <a:rect l="l" t="t" r="r" b="b"/>
            <a:pathLst>
              <a:path w="11412403" h="14400509">
                <a:moveTo>
                  <a:pt x="11412403" y="0"/>
                </a:moveTo>
                <a:lnTo>
                  <a:pt x="0" y="0"/>
                </a:lnTo>
                <a:lnTo>
                  <a:pt x="0" y="14400509"/>
                </a:lnTo>
                <a:lnTo>
                  <a:pt x="11412403" y="14400509"/>
                </a:lnTo>
                <a:lnTo>
                  <a:pt x="11412403" y="0"/>
                </a:lnTo>
                <a:close/>
              </a:path>
            </a:pathLst>
          </a:custGeom>
          <a:blipFill>
            <a:blip r:embed="rId5">
              <a:alphaModFix amt="59000"/>
              <a:extLst>
                <a:ext uri="{96DAC541-7B7A-43D3-8B79-37D633B846F1}">
                  <asvg:svgBlip xmlns:asvg="http://schemas.microsoft.com/office/drawing/2016/SVG/main" r:embed="rId6"/>
                </a:ext>
              </a:extLst>
            </a:blip>
            <a:stretch>
              <a:fillRect/>
            </a:stretch>
          </a:blipFill>
        </p:spPr>
        <p:txBody>
          <a:bodyPr/>
          <a:lstStyle/>
          <a:p>
            <a:endParaRPr lang="he-IL"/>
          </a:p>
        </p:txBody>
      </p:sp>
      <p:sp>
        <p:nvSpPr>
          <p:cNvPr id="11" name="TextBox 11"/>
          <p:cNvSpPr txBox="1"/>
          <p:nvPr/>
        </p:nvSpPr>
        <p:spPr>
          <a:xfrm>
            <a:off x="1326508" y="7408596"/>
            <a:ext cx="6393852" cy="357996"/>
          </a:xfrm>
          <a:prstGeom prst="rect">
            <a:avLst/>
          </a:prstGeom>
        </p:spPr>
        <p:txBody>
          <a:bodyPr lIns="0" tIns="0" rIns="0" bIns="0" rtlCol="0" anchor="t">
            <a:spAutoFit/>
          </a:bodyPr>
          <a:lstStyle/>
          <a:p>
            <a:pPr algn="ctr">
              <a:lnSpc>
                <a:spcPts val="2755"/>
              </a:lnSpc>
            </a:pPr>
            <a:r>
              <a:rPr lang="en-US" sz="2900" spc="-72" dirty="0">
                <a:solidFill>
                  <a:srgbClr val="191919"/>
                </a:solidFill>
                <a:latin typeface="Montserrat"/>
                <a:ea typeface="Montserrat"/>
                <a:cs typeface="Montserrat"/>
                <a:sym typeface="Montserrat"/>
              </a:rPr>
              <a:t>A Comparative Study on ResNet-18</a:t>
            </a:r>
          </a:p>
        </p:txBody>
      </p:sp>
      <p:sp>
        <p:nvSpPr>
          <p:cNvPr id="12" name="TextBox 12"/>
          <p:cNvSpPr txBox="1"/>
          <p:nvPr/>
        </p:nvSpPr>
        <p:spPr>
          <a:xfrm>
            <a:off x="946349" y="1728112"/>
            <a:ext cx="5922364" cy="357996"/>
          </a:xfrm>
          <a:prstGeom prst="rect">
            <a:avLst/>
          </a:prstGeom>
        </p:spPr>
        <p:txBody>
          <a:bodyPr lIns="0" tIns="0" rIns="0" bIns="0" rtlCol="0" anchor="t">
            <a:spAutoFit/>
          </a:bodyPr>
          <a:lstStyle/>
          <a:p>
            <a:pPr algn="l">
              <a:lnSpc>
                <a:spcPts val="2755"/>
              </a:lnSpc>
            </a:pPr>
            <a:r>
              <a:rPr lang="en-US" sz="2900" i="1" spc="-72" dirty="0">
                <a:solidFill>
                  <a:srgbClr val="191919"/>
                </a:solidFill>
                <a:latin typeface="Montserrat Italics"/>
                <a:ea typeface="Montserrat Italics"/>
                <a:cs typeface="Montserrat Italics"/>
                <a:sym typeface="Montserrat Italics"/>
              </a:rPr>
              <a:t>Group 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TextBox 2"/>
          <p:cNvSpPr txBox="1"/>
          <p:nvPr/>
        </p:nvSpPr>
        <p:spPr>
          <a:xfrm>
            <a:off x="2941708" y="764946"/>
            <a:ext cx="12404585" cy="1117601"/>
          </a:xfrm>
          <a:prstGeom prst="rect">
            <a:avLst/>
          </a:prstGeom>
        </p:spPr>
        <p:txBody>
          <a:bodyPr lIns="0" tIns="0" rIns="0" bIns="0" rtlCol="0" anchor="t">
            <a:spAutoFit/>
          </a:bodyPr>
          <a:lstStyle/>
          <a:p>
            <a:pPr algn="l">
              <a:lnSpc>
                <a:spcPts val="8000"/>
              </a:lnSpc>
            </a:pPr>
            <a:r>
              <a:rPr lang="en-US" sz="8000" dirty="0">
                <a:solidFill>
                  <a:srgbClr val="191919"/>
                </a:solidFill>
                <a:latin typeface="Advanit"/>
                <a:ea typeface="Advanit"/>
                <a:cs typeface="Advanit"/>
                <a:sym typeface="Advanit"/>
              </a:rPr>
              <a:t>CONTINUAL LEARNING</a:t>
            </a:r>
          </a:p>
        </p:txBody>
      </p:sp>
      <p:sp>
        <p:nvSpPr>
          <p:cNvPr id="3" name="Freeform 3"/>
          <p:cNvSpPr/>
          <p:nvPr/>
        </p:nvSpPr>
        <p:spPr>
          <a:xfrm flipV="1">
            <a:off x="9517672" y="-1642296"/>
            <a:ext cx="11412403" cy="14400509"/>
          </a:xfrm>
          <a:custGeom>
            <a:avLst/>
            <a:gdLst/>
            <a:ahLst/>
            <a:cxnLst/>
            <a:rect l="l" t="t" r="r" b="b"/>
            <a:pathLst>
              <a:path w="11412403" h="14400509">
                <a:moveTo>
                  <a:pt x="0" y="14400509"/>
                </a:moveTo>
                <a:lnTo>
                  <a:pt x="11412403" y="14400509"/>
                </a:lnTo>
                <a:lnTo>
                  <a:pt x="11412403" y="0"/>
                </a:lnTo>
                <a:lnTo>
                  <a:pt x="0" y="0"/>
                </a:lnTo>
                <a:lnTo>
                  <a:pt x="0" y="14400509"/>
                </a:lnTo>
                <a:close/>
              </a:path>
            </a:pathLst>
          </a:custGeom>
          <a:blipFill>
            <a:blip r:embed="rId3">
              <a:alphaModFix amt="59000"/>
              <a:extLst>
                <a:ext uri="{96DAC541-7B7A-43D3-8B79-37D633B846F1}">
                  <asvg:svgBlip xmlns:asvg="http://schemas.microsoft.com/office/drawing/2016/SVG/main" r:embed="rId4"/>
                </a:ext>
              </a:extLst>
            </a:blip>
            <a:stretch>
              <a:fillRect/>
            </a:stretch>
          </a:blipFill>
        </p:spPr>
        <p:txBody>
          <a:bodyPr/>
          <a:lstStyle/>
          <a:p>
            <a:endParaRPr lang="he-IL"/>
          </a:p>
        </p:txBody>
      </p:sp>
      <p:grpSp>
        <p:nvGrpSpPr>
          <p:cNvPr id="4" name="Group 4"/>
          <p:cNvGrpSpPr/>
          <p:nvPr/>
        </p:nvGrpSpPr>
        <p:grpSpPr>
          <a:xfrm>
            <a:off x="4213435" y="3264656"/>
            <a:ext cx="9495408" cy="5540960"/>
            <a:chOff x="0" y="0"/>
            <a:chExt cx="1477858" cy="862390"/>
          </a:xfrm>
        </p:grpSpPr>
        <p:sp>
          <p:nvSpPr>
            <p:cNvPr id="5" name="Freeform 5"/>
            <p:cNvSpPr/>
            <p:nvPr/>
          </p:nvSpPr>
          <p:spPr>
            <a:xfrm>
              <a:off x="0" y="0"/>
              <a:ext cx="1477858" cy="862390"/>
            </a:xfrm>
            <a:custGeom>
              <a:avLst/>
              <a:gdLst/>
              <a:ahLst/>
              <a:cxnLst/>
              <a:rect l="l" t="t" r="r" b="b"/>
              <a:pathLst>
                <a:path w="1477858" h="862390">
                  <a:moveTo>
                    <a:pt x="0" y="0"/>
                  </a:moveTo>
                  <a:lnTo>
                    <a:pt x="1477858" y="0"/>
                  </a:lnTo>
                  <a:lnTo>
                    <a:pt x="1477858" y="862390"/>
                  </a:lnTo>
                  <a:lnTo>
                    <a:pt x="0" y="862390"/>
                  </a:lnTo>
                  <a:close/>
                </a:path>
              </a:pathLst>
            </a:custGeom>
            <a:blipFill>
              <a:blip r:embed="rId5"/>
              <a:stretch>
                <a:fillRect l="-407" r="-407"/>
              </a:stretch>
            </a:blipFill>
          </p:spPr>
          <p:txBody>
            <a:bodyPr/>
            <a:lstStyle/>
            <a:p>
              <a:endParaRPr lang="he-IL"/>
            </a:p>
          </p:txBody>
        </p:sp>
      </p:grpSp>
      <p:grpSp>
        <p:nvGrpSpPr>
          <p:cNvPr id="6" name="Group 6"/>
          <p:cNvGrpSpPr/>
          <p:nvPr/>
        </p:nvGrpSpPr>
        <p:grpSpPr>
          <a:xfrm>
            <a:off x="4562286" y="1997211"/>
            <a:ext cx="8447836" cy="664195"/>
            <a:chOff x="0" y="0"/>
            <a:chExt cx="2251097" cy="176988"/>
          </a:xfrm>
        </p:grpSpPr>
        <p:sp>
          <p:nvSpPr>
            <p:cNvPr id="7" name="Freeform 7"/>
            <p:cNvSpPr/>
            <p:nvPr/>
          </p:nvSpPr>
          <p:spPr>
            <a:xfrm>
              <a:off x="0" y="0"/>
              <a:ext cx="2251097" cy="176988"/>
            </a:xfrm>
            <a:custGeom>
              <a:avLst/>
              <a:gdLst/>
              <a:ahLst/>
              <a:cxnLst/>
              <a:rect l="l" t="t" r="r" b="b"/>
              <a:pathLst>
                <a:path w="2251097" h="176988">
                  <a:moveTo>
                    <a:pt x="0" y="0"/>
                  </a:moveTo>
                  <a:lnTo>
                    <a:pt x="2251097" y="0"/>
                  </a:lnTo>
                  <a:lnTo>
                    <a:pt x="2251097" y="176988"/>
                  </a:lnTo>
                  <a:lnTo>
                    <a:pt x="0" y="176988"/>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8" name="TextBox 8"/>
            <p:cNvSpPr txBox="1"/>
            <p:nvPr/>
          </p:nvSpPr>
          <p:spPr>
            <a:xfrm>
              <a:off x="0" y="-28575"/>
              <a:ext cx="2251097" cy="205563"/>
            </a:xfrm>
            <a:prstGeom prst="rect">
              <a:avLst/>
            </a:prstGeom>
          </p:spPr>
          <p:txBody>
            <a:bodyPr lIns="70173" tIns="70173" rIns="70173" bIns="70173" rtlCol="0" anchor="ctr"/>
            <a:lstStyle/>
            <a:p>
              <a:pPr algn="ctr">
                <a:lnSpc>
                  <a:spcPts val="2520"/>
                </a:lnSpc>
                <a:spcBef>
                  <a:spcPct val="0"/>
                </a:spcBef>
              </a:pPr>
              <a:endParaRPr/>
            </a:p>
          </p:txBody>
        </p:sp>
      </p:grpSp>
      <p:sp>
        <p:nvSpPr>
          <p:cNvPr id="13" name="Freeform 13"/>
          <p:cNvSpPr/>
          <p:nvPr/>
        </p:nvSpPr>
        <p:spPr>
          <a:xfrm>
            <a:off x="3812172" y="3162301"/>
            <a:ext cx="10297934" cy="5745670"/>
          </a:xfrm>
          <a:custGeom>
            <a:avLst/>
            <a:gdLst/>
            <a:ahLst/>
            <a:cxnLst/>
            <a:rect l="l" t="t" r="r" b="b"/>
            <a:pathLst>
              <a:path w="7700118" h="4190666">
                <a:moveTo>
                  <a:pt x="0" y="0"/>
                </a:moveTo>
                <a:lnTo>
                  <a:pt x="7700119" y="0"/>
                </a:lnTo>
                <a:lnTo>
                  <a:pt x="7700119" y="4190665"/>
                </a:lnTo>
                <a:lnTo>
                  <a:pt x="0" y="4190665"/>
                </a:lnTo>
                <a:lnTo>
                  <a:pt x="0" y="0"/>
                </a:lnTo>
                <a:close/>
              </a:path>
            </a:pathLst>
          </a:custGeom>
          <a:blipFill>
            <a:blip r:embed="rId6"/>
            <a:stretch>
              <a:fillRect t="-22419"/>
            </a:stretch>
          </a:blipFill>
        </p:spPr>
        <p:txBody>
          <a:bodyPr/>
          <a:lstStyle/>
          <a:p>
            <a:endParaRPr lang="he-IL"/>
          </a:p>
        </p:txBody>
      </p:sp>
      <p:sp>
        <p:nvSpPr>
          <p:cNvPr id="14" name="Freeform 14"/>
          <p:cNvSpPr/>
          <p:nvPr/>
        </p:nvSpPr>
        <p:spPr>
          <a:xfrm>
            <a:off x="3790729" y="3162300"/>
            <a:ext cx="10319378" cy="5745670"/>
          </a:xfrm>
          <a:custGeom>
            <a:avLst/>
            <a:gdLst/>
            <a:ahLst/>
            <a:cxnLst/>
            <a:rect l="l" t="t" r="r" b="b"/>
            <a:pathLst>
              <a:path w="5981163" h="2803670">
                <a:moveTo>
                  <a:pt x="0" y="0"/>
                </a:moveTo>
                <a:lnTo>
                  <a:pt x="5981163" y="0"/>
                </a:lnTo>
                <a:lnTo>
                  <a:pt x="5981163" y="2803670"/>
                </a:lnTo>
                <a:lnTo>
                  <a:pt x="0" y="2803670"/>
                </a:lnTo>
                <a:lnTo>
                  <a:pt x="0" y="0"/>
                </a:lnTo>
                <a:close/>
              </a:path>
            </a:pathLst>
          </a:custGeom>
          <a:blipFill>
            <a:blip r:embed="rId7"/>
            <a:stretch>
              <a:fillRect/>
            </a:stretch>
          </a:blipFill>
        </p:spPr>
        <p:txBody>
          <a:bodyPr/>
          <a:lstStyle/>
          <a:p>
            <a:endParaRPr lang="he-IL"/>
          </a:p>
        </p:txBody>
      </p:sp>
      <p:sp>
        <p:nvSpPr>
          <p:cNvPr id="15" name="TextBox 15"/>
          <p:cNvSpPr txBox="1"/>
          <p:nvPr/>
        </p:nvSpPr>
        <p:spPr>
          <a:xfrm>
            <a:off x="4410811" y="2160604"/>
            <a:ext cx="8750785" cy="413558"/>
          </a:xfrm>
          <a:prstGeom prst="rect">
            <a:avLst/>
          </a:prstGeom>
        </p:spPr>
        <p:txBody>
          <a:bodyPr lIns="0" tIns="0" rIns="0" bIns="0" rtlCol="0" anchor="t">
            <a:spAutoFit/>
          </a:bodyPr>
          <a:lstStyle/>
          <a:p>
            <a:pPr algn="ctr">
              <a:lnSpc>
                <a:spcPts val="3160"/>
              </a:lnSpc>
            </a:pPr>
            <a:r>
              <a:rPr lang="en-US" sz="3326" spc="-83" dirty="0">
                <a:solidFill>
                  <a:srgbClr val="191919"/>
                </a:solidFill>
                <a:latin typeface="Montserrat"/>
                <a:ea typeface="Montserrat"/>
                <a:cs typeface="Montserrat"/>
                <a:sym typeface="Montserrat"/>
              </a:rPr>
              <a:t>The challenge: Catastrophic Forgetting </a:t>
            </a:r>
          </a:p>
        </p:txBody>
      </p:sp>
      <p:sp>
        <p:nvSpPr>
          <p:cNvPr id="16" name="TextBox 16"/>
          <p:cNvSpPr txBox="1"/>
          <p:nvPr/>
        </p:nvSpPr>
        <p:spPr>
          <a:xfrm>
            <a:off x="278271" y="4076700"/>
            <a:ext cx="3629409" cy="586186"/>
          </a:xfrm>
          <a:prstGeom prst="rect">
            <a:avLst/>
          </a:prstGeom>
        </p:spPr>
        <p:txBody>
          <a:bodyPr lIns="0" tIns="0" rIns="0" bIns="0" rtlCol="0" anchor="t">
            <a:spAutoFit/>
          </a:bodyPr>
          <a:lstStyle/>
          <a:p>
            <a:pPr marL="782962" lvl="1" indent="-391481" algn="just">
              <a:lnSpc>
                <a:spcPts val="4932"/>
              </a:lnSpc>
              <a:buFont typeface="Arial"/>
              <a:buChar char="•"/>
            </a:pPr>
            <a:r>
              <a:rPr lang="en-US" sz="3626" spc="-90" dirty="0">
                <a:solidFill>
                  <a:srgbClr val="191919"/>
                </a:solidFill>
                <a:latin typeface="Montserrat"/>
                <a:ea typeface="Montserrat"/>
                <a:cs typeface="Montserrat"/>
                <a:sym typeface="Montserrat"/>
              </a:rPr>
              <a:t>Plasticity</a:t>
            </a:r>
          </a:p>
        </p:txBody>
      </p:sp>
      <p:sp>
        <p:nvSpPr>
          <p:cNvPr id="18" name="תיבת טקסט 17">
            <a:extLst>
              <a:ext uri="{FF2B5EF4-FFF2-40B4-BE49-F238E27FC236}">
                <a16:creationId xmlns:a16="http://schemas.microsoft.com/office/drawing/2014/main" id="{344D23F7-D0CC-A435-8EA5-8D80B19A2B1E}"/>
              </a:ext>
            </a:extLst>
          </p:cNvPr>
          <p:cNvSpPr txBox="1"/>
          <p:nvPr/>
        </p:nvSpPr>
        <p:spPr>
          <a:xfrm>
            <a:off x="150828" y="4861993"/>
            <a:ext cx="3287790" cy="678647"/>
          </a:xfrm>
          <a:prstGeom prst="rect">
            <a:avLst/>
          </a:prstGeom>
          <a:noFill/>
        </p:spPr>
        <p:txBody>
          <a:bodyPr wrap="square">
            <a:spAutoFit/>
          </a:bodyPr>
          <a:lstStyle/>
          <a:p>
            <a:pPr marL="782962" lvl="1" indent="-391481" algn="just">
              <a:lnSpc>
                <a:spcPts val="4932"/>
              </a:lnSpc>
              <a:buFont typeface="Arial"/>
              <a:buChar char="•"/>
            </a:pPr>
            <a:r>
              <a:rPr lang="en-US" sz="3630" spc="-90" dirty="0">
                <a:solidFill>
                  <a:srgbClr val="191919"/>
                </a:solidFill>
                <a:latin typeface="Montserrat"/>
                <a:ea typeface="Montserrat"/>
                <a:cs typeface="Montserrat"/>
                <a:sym typeface="Montserrat"/>
              </a:rPr>
              <a:t>Stability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p:bldP spid="16"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Freeform 2"/>
          <p:cNvSpPr/>
          <p:nvPr/>
        </p:nvSpPr>
        <p:spPr>
          <a:xfrm>
            <a:off x="7147820" y="517391"/>
            <a:ext cx="12406810" cy="12532132"/>
          </a:xfrm>
          <a:custGeom>
            <a:avLst/>
            <a:gdLst/>
            <a:ahLst/>
            <a:cxnLst/>
            <a:rect l="l" t="t" r="r" b="b"/>
            <a:pathLst>
              <a:path w="12406810" h="12532132">
                <a:moveTo>
                  <a:pt x="0" y="0"/>
                </a:moveTo>
                <a:lnTo>
                  <a:pt x="12406810" y="0"/>
                </a:lnTo>
                <a:lnTo>
                  <a:pt x="12406810" y="12532131"/>
                </a:lnTo>
                <a:lnTo>
                  <a:pt x="0" y="12532131"/>
                </a:lnTo>
                <a:lnTo>
                  <a:pt x="0" y="0"/>
                </a:lnTo>
                <a:close/>
              </a:path>
            </a:pathLst>
          </a:custGeom>
          <a:blipFill>
            <a:blip r:embed="rId3">
              <a:alphaModFix amt="59000"/>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p:cNvSpPr/>
          <p:nvPr/>
        </p:nvSpPr>
        <p:spPr>
          <a:xfrm>
            <a:off x="9395400" y="2782205"/>
            <a:ext cx="8544671" cy="4872908"/>
          </a:xfrm>
          <a:custGeom>
            <a:avLst/>
            <a:gdLst/>
            <a:ahLst/>
            <a:cxnLst/>
            <a:rect l="l" t="t" r="r" b="b"/>
            <a:pathLst>
              <a:path w="8544671" h="4872908">
                <a:moveTo>
                  <a:pt x="0" y="0"/>
                </a:moveTo>
                <a:lnTo>
                  <a:pt x="8544671" y="0"/>
                </a:lnTo>
                <a:lnTo>
                  <a:pt x="8544671" y="4872909"/>
                </a:lnTo>
                <a:lnTo>
                  <a:pt x="0" y="4872909"/>
                </a:lnTo>
                <a:lnTo>
                  <a:pt x="0" y="0"/>
                </a:lnTo>
                <a:close/>
              </a:path>
            </a:pathLst>
          </a:custGeom>
          <a:blipFill>
            <a:blip r:embed="rId5"/>
            <a:stretch>
              <a:fillRect t="-15720" b="-1107"/>
            </a:stretch>
          </a:blipFill>
        </p:spPr>
        <p:txBody>
          <a:bodyPr/>
          <a:lstStyle/>
          <a:p>
            <a:endParaRPr lang="he-IL"/>
          </a:p>
        </p:txBody>
      </p:sp>
      <p:sp>
        <p:nvSpPr>
          <p:cNvPr id="4" name="TextBox 4"/>
          <p:cNvSpPr txBox="1"/>
          <p:nvPr/>
        </p:nvSpPr>
        <p:spPr>
          <a:xfrm>
            <a:off x="5390584" y="801220"/>
            <a:ext cx="6898718" cy="1117601"/>
          </a:xfrm>
          <a:prstGeom prst="rect">
            <a:avLst/>
          </a:prstGeom>
        </p:spPr>
        <p:txBody>
          <a:bodyPr lIns="0" tIns="0" rIns="0" bIns="0" rtlCol="0" anchor="t">
            <a:spAutoFit/>
          </a:bodyPr>
          <a:lstStyle/>
          <a:p>
            <a:pPr algn="just">
              <a:lnSpc>
                <a:spcPts val="8000"/>
              </a:lnSpc>
            </a:pPr>
            <a:r>
              <a:rPr lang="en-US" sz="8000" dirty="0">
                <a:solidFill>
                  <a:srgbClr val="191919"/>
                </a:solidFill>
                <a:latin typeface="Advanit"/>
                <a:ea typeface="Advanit"/>
                <a:cs typeface="Advanit"/>
                <a:sym typeface="Advanit"/>
              </a:rPr>
              <a:t>MOTIVATION</a:t>
            </a:r>
          </a:p>
        </p:txBody>
      </p:sp>
      <p:sp>
        <p:nvSpPr>
          <p:cNvPr id="5" name="TextBox 5"/>
          <p:cNvSpPr txBox="1"/>
          <p:nvPr/>
        </p:nvSpPr>
        <p:spPr>
          <a:xfrm>
            <a:off x="344177" y="3365377"/>
            <a:ext cx="8799819" cy="990143"/>
          </a:xfrm>
          <a:prstGeom prst="rect">
            <a:avLst/>
          </a:prstGeom>
        </p:spPr>
        <p:txBody>
          <a:bodyPr lIns="0" tIns="0" rIns="0" bIns="0" rtlCol="0" anchor="t">
            <a:spAutoFit/>
          </a:bodyPr>
          <a:lstStyle/>
          <a:p>
            <a:pPr marL="782962" lvl="1" indent="-391481" algn="just">
              <a:lnSpc>
                <a:spcPts val="9066"/>
              </a:lnSpc>
              <a:buFont typeface="Arial"/>
              <a:buChar char="•"/>
            </a:pPr>
            <a:r>
              <a:rPr lang="en-US" sz="3626" spc="-90" dirty="0">
                <a:solidFill>
                  <a:srgbClr val="191919"/>
                </a:solidFill>
                <a:latin typeface="Montserrat"/>
                <a:ea typeface="Montserrat"/>
                <a:cs typeface="Montserrat"/>
                <a:sym typeface="Montserrat"/>
              </a:rPr>
              <a:t>Privacy / GDPR</a:t>
            </a:r>
          </a:p>
        </p:txBody>
      </p:sp>
      <p:sp>
        <p:nvSpPr>
          <p:cNvPr id="6" name="TextBox 5">
            <a:extLst>
              <a:ext uri="{FF2B5EF4-FFF2-40B4-BE49-F238E27FC236}">
                <a16:creationId xmlns:a16="http://schemas.microsoft.com/office/drawing/2014/main" id="{10045CEC-DF7B-576B-314D-68D0EFF8A17A}"/>
              </a:ext>
            </a:extLst>
          </p:cNvPr>
          <p:cNvSpPr txBox="1"/>
          <p:nvPr/>
        </p:nvSpPr>
        <p:spPr>
          <a:xfrm>
            <a:off x="344177" y="4445721"/>
            <a:ext cx="8799819" cy="990143"/>
          </a:xfrm>
          <a:prstGeom prst="rect">
            <a:avLst/>
          </a:prstGeom>
        </p:spPr>
        <p:txBody>
          <a:bodyPr lIns="0" tIns="0" rIns="0" bIns="0" rtlCol="0" anchor="t">
            <a:spAutoFit/>
          </a:bodyPr>
          <a:lstStyle/>
          <a:p>
            <a:pPr marL="962981" lvl="1" indent="-571500" algn="just">
              <a:lnSpc>
                <a:spcPts val="9066"/>
              </a:lnSpc>
              <a:buFont typeface="Arial" panose="020B0604020202020204" pitchFamily="34" charset="0"/>
              <a:buChar char="•"/>
            </a:pPr>
            <a:r>
              <a:rPr lang="en-US" sz="3626" spc="-90" dirty="0">
                <a:solidFill>
                  <a:srgbClr val="191919"/>
                </a:solidFill>
                <a:latin typeface="Montserrat"/>
                <a:ea typeface="Montserrat"/>
                <a:cs typeface="Montserrat"/>
                <a:sym typeface="Montserrat"/>
              </a:rPr>
              <a:t>Storage Efficiency</a:t>
            </a:r>
          </a:p>
        </p:txBody>
      </p:sp>
      <p:sp>
        <p:nvSpPr>
          <p:cNvPr id="7" name="TextBox 5">
            <a:extLst>
              <a:ext uri="{FF2B5EF4-FFF2-40B4-BE49-F238E27FC236}">
                <a16:creationId xmlns:a16="http://schemas.microsoft.com/office/drawing/2014/main" id="{4B1FEB89-E7B1-19BB-6603-D894316B88CA}"/>
              </a:ext>
            </a:extLst>
          </p:cNvPr>
          <p:cNvSpPr txBox="1"/>
          <p:nvPr/>
        </p:nvSpPr>
        <p:spPr>
          <a:xfrm>
            <a:off x="344177" y="5526065"/>
            <a:ext cx="8799819" cy="990143"/>
          </a:xfrm>
          <a:prstGeom prst="rect">
            <a:avLst/>
          </a:prstGeom>
        </p:spPr>
        <p:txBody>
          <a:bodyPr wrap="square" lIns="0" tIns="0" rIns="0" bIns="0" rtlCol="0" anchor="t">
            <a:spAutoFit/>
          </a:bodyPr>
          <a:lstStyle/>
          <a:p>
            <a:pPr marL="962981" lvl="1" indent="-571500" algn="just">
              <a:lnSpc>
                <a:spcPts val="9066"/>
              </a:lnSpc>
              <a:buFont typeface="Arial" panose="020B0604020202020204" pitchFamily="34" charset="0"/>
              <a:buChar char="•"/>
            </a:pPr>
            <a:r>
              <a:rPr lang="en-US" sz="3626" spc="-90" dirty="0">
                <a:solidFill>
                  <a:srgbClr val="191919"/>
                </a:solidFill>
                <a:latin typeface="Montserrat"/>
                <a:ea typeface="Montserrat"/>
                <a:cs typeface="Montserrat"/>
                <a:sym typeface="Montserrat"/>
              </a:rPr>
              <a:t>The solution : Data Free Approach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TextBox 2"/>
          <p:cNvSpPr txBox="1"/>
          <p:nvPr/>
        </p:nvSpPr>
        <p:spPr>
          <a:xfrm>
            <a:off x="1028700" y="647533"/>
            <a:ext cx="8612253" cy="1117601"/>
          </a:xfrm>
          <a:prstGeom prst="rect">
            <a:avLst/>
          </a:prstGeom>
        </p:spPr>
        <p:txBody>
          <a:bodyPr lIns="0" tIns="0" rIns="0" bIns="0" rtlCol="0" anchor="t">
            <a:spAutoFit/>
          </a:bodyPr>
          <a:lstStyle/>
          <a:p>
            <a:pPr algn="just">
              <a:lnSpc>
                <a:spcPts val="8000"/>
              </a:lnSpc>
            </a:pPr>
            <a:r>
              <a:rPr lang="en-US" sz="8000" dirty="0">
                <a:solidFill>
                  <a:srgbClr val="191919"/>
                </a:solidFill>
                <a:latin typeface="Advanit"/>
                <a:ea typeface="Advanit"/>
                <a:cs typeface="Advanit"/>
                <a:sym typeface="Advanit"/>
              </a:rPr>
              <a:t>INSPIRATION</a:t>
            </a:r>
            <a:r>
              <a:rPr lang="en-US" sz="8000" b="1" dirty="0">
                <a:solidFill>
                  <a:srgbClr val="191919"/>
                </a:solidFill>
                <a:latin typeface="Advanit"/>
                <a:ea typeface="Advanit"/>
                <a:cs typeface="Advanit"/>
                <a:sym typeface="Advanit"/>
              </a:rPr>
              <a:t> </a:t>
            </a:r>
          </a:p>
        </p:txBody>
      </p:sp>
      <p:grpSp>
        <p:nvGrpSpPr>
          <p:cNvPr id="3" name="Group 3"/>
          <p:cNvGrpSpPr/>
          <p:nvPr/>
        </p:nvGrpSpPr>
        <p:grpSpPr>
          <a:xfrm>
            <a:off x="9368203" y="1028700"/>
            <a:ext cx="545498" cy="545498"/>
            <a:chOff x="0" y="0"/>
            <a:chExt cx="145359" cy="145359"/>
          </a:xfrm>
        </p:grpSpPr>
        <p:sp>
          <p:nvSpPr>
            <p:cNvPr id="4" name="Freeform 4"/>
            <p:cNvSpPr/>
            <p:nvPr/>
          </p:nvSpPr>
          <p:spPr>
            <a:xfrm>
              <a:off x="0" y="0"/>
              <a:ext cx="145359" cy="145359"/>
            </a:xfrm>
            <a:custGeom>
              <a:avLst/>
              <a:gdLst/>
              <a:ahLst/>
              <a:cxnLst/>
              <a:rect l="l" t="t" r="r" b="b"/>
              <a:pathLst>
                <a:path w="145359" h="145359">
                  <a:moveTo>
                    <a:pt x="0" y="0"/>
                  </a:moveTo>
                  <a:lnTo>
                    <a:pt x="145359" y="0"/>
                  </a:lnTo>
                  <a:lnTo>
                    <a:pt x="145359" y="145359"/>
                  </a:lnTo>
                  <a:lnTo>
                    <a:pt x="0" y="145359"/>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5" name="TextBox 5"/>
            <p:cNvSpPr txBox="1"/>
            <p:nvPr/>
          </p:nvSpPr>
          <p:spPr>
            <a:xfrm>
              <a:off x="0" y="38100"/>
              <a:ext cx="145359" cy="107259"/>
            </a:xfrm>
            <a:prstGeom prst="rect">
              <a:avLst/>
            </a:prstGeom>
          </p:spPr>
          <p:txBody>
            <a:bodyPr lIns="70173" tIns="70173" rIns="70173" bIns="70173" rtlCol="0" anchor="ctr"/>
            <a:lstStyle/>
            <a:p>
              <a:pPr algn="ctr">
                <a:lnSpc>
                  <a:spcPts val="1709"/>
                </a:lnSpc>
              </a:pPr>
              <a:endParaRPr/>
            </a:p>
          </p:txBody>
        </p:sp>
      </p:grpSp>
      <p:sp>
        <p:nvSpPr>
          <p:cNvPr id="6" name="Freeform 6"/>
          <p:cNvSpPr/>
          <p:nvPr/>
        </p:nvSpPr>
        <p:spPr>
          <a:xfrm>
            <a:off x="9485616" y="1158709"/>
            <a:ext cx="310673" cy="310673"/>
          </a:xfrm>
          <a:custGeom>
            <a:avLst/>
            <a:gdLst/>
            <a:ahLst/>
            <a:cxnLst/>
            <a:rect l="l" t="t" r="r" b="b"/>
            <a:pathLst>
              <a:path w="310673" h="310673">
                <a:moveTo>
                  <a:pt x="0" y="0"/>
                </a:moveTo>
                <a:lnTo>
                  <a:pt x="310673" y="0"/>
                </a:lnTo>
                <a:lnTo>
                  <a:pt x="310673" y="310673"/>
                </a:lnTo>
                <a:lnTo>
                  <a:pt x="0" y="3106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7" name="TextBox 7"/>
          <p:cNvSpPr txBox="1"/>
          <p:nvPr/>
        </p:nvSpPr>
        <p:spPr>
          <a:xfrm>
            <a:off x="457200" y="2400300"/>
            <a:ext cx="16085954" cy="3730637"/>
          </a:xfrm>
          <a:prstGeom prst="rect">
            <a:avLst/>
          </a:prstGeom>
        </p:spPr>
        <p:txBody>
          <a:bodyPr lIns="0" tIns="0" rIns="0" bIns="0" rtlCol="0" anchor="t">
            <a:spAutoFit/>
          </a:bodyPr>
          <a:lstStyle/>
          <a:p>
            <a:pPr marL="647694" lvl="1" indent="-323847" algn="ctr">
              <a:lnSpc>
                <a:spcPts val="4199"/>
              </a:lnSpc>
              <a:buFont typeface="Arial"/>
              <a:buChar char="•"/>
            </a:pPr>
            <a:r>
              <a:rPr lang="en-US" sz="2999" spc="-74" dirty="0">
                <a:solidFill>
                  <a:srgbClr val="191919"/>
                </a:solidFill>
                <a:latin typeface="Montserrat"/>
                <a:ea typeface="Montserrat"/>
                <a:cs typeface="Montserrat"/>
                <a:sym typeface="Montserrat"/>
              </a:rPr>
              <a:t>Sculpting Subspaces: Constrained Full Fine-Tuning in LLMs for Continual Learning</a:t>
            </a:r>
          </a:p>
          <a:p>
            <a:pPr algn="just">
              <a:lnSpc>
                <a:spcPts val="4199"/>
              </a:lnSpc>
            </a:pPr>
            <a:r>
              <a:rPr lang="en-US" sz="2999" spc="-74" dirty="0">
                <a:solidFill>
                  <a:srgbClr val="191919"/>
                </a:solidFill>
                <a:latin typeface="Montserrat"/>
                <a:ea typeface="Montserrat"/>
                <a:cs typeface="Montserrat"/>
                <a:sym typeface="Montserrat"/>
              </a:rPr>
              <a:t>         ( Nayak, N. S., et al. (2025), arXiv:2504.07097 )</a:t>
            </a:r>
          </a:p>
          <a:p>
            <a:pPr algn="just">
              <a:lnSpc>
                <a:spcPts val="4199"/>
              </a:lnSpc>
            </a:pPr>
            <a:endParaRPr lang="en-US" sz="2999" spc="-74" dirty="0">
              <a:solidFill>
                <a:srgbClr val="191919"/>
              </a:solidFill>
              <a:latin typeface="Montserrat"/>
              <a:ea typeface="Montserrat"/>
              <a:cs typeface="Montserrat"/>
              <a:sym typeface="Montserrat"/>
            </a:endParaRPr>
          </a:p>
          <a:p>
            <a:pPr marL="1295387" lvl="2" indent="-431796" algn="just">
              <a:lnSpc>
                <a:spcPts val="4199"/>
              </a:lnSpc>
              <a:buFont typeface="Arial"/>
              <a:buChar char="⚬"/>
            </a:pPr>
            <a:r>
              <a:rPr lang="en-US" sz="2999" u="sng" spc="-74" dirty="0">
                <a:solidFill>
                  <a:srgbClr val="191919"/>
                </a:solidFill>
                <a:latin typeface="Montserrat"/>
                <a:ea typeface="Montserrat"/>
                <a:cs typeface="Montserrat"/>
                <a:sym typeface="Montserrat"/>
              </a:rPr>
              <a:t>Core Idea</a:t>
            </a:r>
            <a:r>
              <a:rPr lang="en-US" sz="2999" spc="-74" dirty="0">
                <a:solidFill>
                  <a:srgbClr val="191919"/>
                </a:solidFill>
                <a:latin typeface="Montserrat"/>
                <a:ea typeface="Montserrat"/>
                <a:cs typeface="Montserrat"/>
                <a:sym typeface="Montserrat"/>
              </a:rPr>
              <a:t> - Project Gradients into a "Safe Subspace” </a:t>
            </a:r>
          </a:p>
          <a:p>
            <a:pPr marL="1943081" lvl="3" indent="-485770" algn="just">
              <a:lnSpc>
                <a:spcPts val="4199"/>
              </a:lnSpc>
              <a:buFont typeface="Arial"/>
              <a:buChar char="￭"/>
            </a:pPr>
            <a:r>
              <a:rPr lang="en-US" sz="2999" spc="-74" dirty="0">
                <a:solidFill>
                  <a:srgbClr val="191919"/>
                </a:solidFill>
                <a:latin typeface="Montserrat"/>
                <a:ea typeface="Montserrat"/>
                <a:cs typeface="Montserrat"/>
                <a:sym typeface="Montserrat"/>
              </a:rPr>
              <a:t>Identify directions in weight space that are crucial for Task A.</a:t>
            </a:r>
          </a:p>
          <a:p>
            <a:pPr marL="1943081" lvl="3" indent="-485770" algn="just">
              <a:lnSpc>
                <a:spcPts val="4199"/>
              </a:lnSpc>
              <a:buFont typeface="Arial"/>
              <a:buChar char="￭"/>
            </a:pPr>
            <a:r>
              <a:rPr lang="en-US" sz="2999" spc="-74" dirty="0">
                <a:solidFill>
                  <a:srgbClr val="191919"/>
                </a:solidFill>
                <a:latin typeface="Montserrat"/>
                <a:ea typeface="Montserrat"/>
                <a:cs typeface="Montserrat"/>
                <a:sym typeface="Montserrat"/>
              </a:rPr>
              <a:t>Prevent updates in these directions during Task B training.</a:t>
            </a:r>
          </a:p>
          <a:p>
            <a:pPr algn="just">
              <a:lnSpc>
                <a:spcPts val="4199"/>
              </a:lnSpc>
            </a:pPr>
            <a:endParaRPr lang="en-US" sz="2999" spc="-74" dirty="0">
              <a:solidFill>
                <a:srgbClr val="191919"/>
              </a:solidFill>
              <a:latin typeface="Montserrat"/>
              <a:ea typeface="Montserrat"/>
              <a:cs typeface="Montserrat"/>
              <a:sym typeface="Montserrat"/>
            </a:endParaRPr>
          </a:p>
        </p:txBody>
      </p:sp>
      <p:sp>
        <p:nvSpPr>
          <p:cNvPr id="9" name="TextBox 7">
            <a:extLst>
              <a:ext uri="{FF2B5EF4-FFF2-40B4-BE49-F238E27FC236}">
                <a16:creationId xmlns:a16="http://schemas.microsoft.com/office/drawing/2014/main" id="{52C6BCAC-90E8-2F35-C70E-7D44B49ED8D5}"/>
              </a:ext>
            </a:extLst>
          </p:cNvPr>
          <p:cNvSpPr txBox="1"/>
          <p:nvPr/>
        </p:nvSpPr>
        <p:spPr>
          <a:xfrm>
            <a:off x="457200" y="6734655"/>
            <a:ext cx="16085954" cy="2114810"/>
          </a:xfrm>
          <a:prstGeom prst="rect">
            <a:avLst/>
          </a:prstGeom>
        </p:spPr>
        <p:txBody>
          <a:bodyPr lIns="0" tIns="0" rIns="0" bIns="0" rtlCol="0" anchor="t">
            <a:spAutoFit/>
          </a:bodyPr>
          <a:lstStyle/>
          <a:p>
            <a:pPr algn="just">
              <a:lnSpc>
                <a:spcPts val="4199"/>
              </a:lnSpc>
            </a:pPr>
            <a:endParaRPr lang="en-US" sz="2999" spc="-74" dirty="0">
              <a:solidFill>
                <a:srgbClr val="191919"/>
              </a:solidFill>
              <a:latin typeface="Montserrat"/>
              <a:ea typeface="Montserrat"/>
              <a:cs typeface="Montserrat"/>
              <a:sym typeface="Montserrat"/>
            </a:endParaRPr>
          </a:p>
          <a:p>
            <a:pPr marL="1295387" lvl="2" indent="-431796" algn="just">
              <a:lnSpc>
                <a:spcPts val="4199"/>
              </a:lnSpc>
              <a:buFont typeface="Arial"/>
              <a:buChar char="⚬"/>
            </a:pPr>
            <a:r>
              <a:rPr lang="en-US" sz="2999" u="sng" spc="-74" dirty="0">
                <a:solidFill>
                  <a:srgbClr val="191919"/>
                </a:solidFill>
                <a:latin typeface="Montserrat"/>
                <a:ea typeface="Montserrat"/>
                <a:cs typeface="Montserrat"/>
                <a:sym typeface="Montserrat"/>
              </a:rPr>
              <a:t>Our Challenge</a:t>
            </a:r>
            <a:r>
              <a:rPr lang="en-US" sz="2999" spc="-74" dirty="0">
                <a:solidFill>
                  <a:srgbClr val="191919"/>
                </a:solidFill>
                <a:latin typeface="Montserrat"/>
                <a:ea typeface="Montserrat"/>
                <a:cs typeface="Montserrat"/>
                <a:sym typeface="Montserrat"/>
              </a:rPr>
              <a:t> - Adapting this to Convolutional Networks (ResNet-18)</a:t>
            </a:r>
          </a:p>
          <a:p>
            <a:pPr algn="just">
              <a:lnSpc>
                <a:spcPts val="4199"/>
              </a:lnSpc>
            </a:pPr>
            <a:endParaRPr lang="en-US" sz="2999" spc="-74" dirty="0">
              <a:solidFill>
                <a:srgbClr val="191919"/>
              </a:solidFill>
              <a:latin typeface="Montserrat"/>
              <a:ea typeface="Montserrat"/>
              <a:cs typeface="Montserrat"/>
              <a:sym typeface="Montserrat"/>
            </a:endParaRPr>
          </a:p>
          <a:p>
            <a:pPr marL="1295387" lvl="2" indent="-431796" algn="just">
              <a:lnSpc>
                <a:spcPts val="4199"/>
              </a:lnSpc>
              <a:buFont typeface="Arial"/>
              <a:buChar char="⚬"/>
            </a:pPr>
            <a:r>
              <a:rPr lang="en-US" sz="2999" u="sng" spc="-74" dirty="0">
                <a:solidFill>
                  <a:srgbClr val="191919"/>
                </a:solidFill>
                <a:latin typeface="Montserrat"/>
                <a:ea typeface="Montserrat"/>
                <a:cs typeface="Montserrat"/>
                <a:sym typeface="Montserrat"/>
              </a:rPr>
              <a:t>Bonus</a:t>
            </a:r>
            <a:r>
              <a:rPr lang="en-US" sz="2999" spc="-74" dirty="0">
                <a:solidFill>
                  <a:srgbClr val="191919"/>
                </a:solidFill>
                <a:latin typeface="Montserrat"/>
                <a:ea typeface="Montserrat"/>
                <a:cs typeface="Montserrat"/>
                <a:sym typeface="Montserrat"/>
              </a:rPr>
              <a:t> - can we find a more efficient way?</a:t>
            </a:r>
          </a:p>
        </p:txBody>
      </p:sp>
      <p:sp>
        <p:nvSpPr>
          <p:cNvPr id="10" name="TextBox 7">
            <a:extLst>
              <a:ext uri="{FF2B5EF4-FFF2-40B4-BE49-F238E27FC236}">
                <a16:creationId xmlns:a16="http://schemas.microsoft.com/office/drawing/2014/main" id="{BC6C1687-8A2E-46C1-33EF-BE04F7C22428}"/>
              </a:ext>
            </a:extLst>
          </p:cNvPr>
          <p:cNvSpPr txBox="1"/>
          <p:nvPr/>
        </p:nvSpPr>
        <p:spPr>
          <a:xfrm>
            <a:off x="426396" y="5626099"/>
            <a:ext cx="16085954" cy="1037592"/>
          </a:xfrm>
          <a:prstGeom prst="rect">
            <a:avLst/>
          </a:prstGeom>
        </p:spPr>
        <p:txBody>
          <a:bodyPr lIns="0" tIns="0" rIns="0" bIns="0" rtlCol="0" anchor="t">
            <a:spAutoFit/>
          </a:bodyPr>
          <a:lstStyle/>
          <a:p>
            <a:pPr algn="just">
              <a:lnSpc>
                <a:spcPts val="4199"/>
              </a:lnSpc>
            </a:pPr>
            <a:endParaRPr lang="en-US" sz="2999" spc="-74" dirty="0">
              <a:solidFill>
                <a:srgbClr val="191919"/>
              </a:solidFill>
              <a:latin typeface="Montserrat"/>
              <a:ea typeface="Montserrat"/>
              <a:cs typeface="Montserrat"/>
              <a:sym typeface="Montserrat"/>
            </a:endParaRPr>
          </a:p>
          <a:p>
            <a:pPr marL="1295387" lvl="2" indent="-431796" algn="just">
              <a:lnSpc>
                <a:spcPts val="4199"/>
              </a:lnSpc>
              <a:buFont typeface="Arial"/>
              <a:buChar char="⚬"/>
            </a:pPr>
            <a:r>
              <a:rPr lang="en-US" sz="2999" u="sng" spc="-74" dirty="0">
                <a:solidFill>
                  <a:srgbClr val="191919"/>
                </a:solidFill>
                <a:latin typeface="Montserrat"/>
                <a:ea typeface="Montserrat"/>
                <a:cs typeface="Montserrat"/>
                <a:sym typeface="Montserrat"/>
              </a:rPr>
              <a:t>The Gap</a:t>
            </a:r>
            <a:r>
              <a:rPr lang="en-US" sz="2999" spc="-74" dirty="0">
                <a:solidFill>
                  <a:srgbClr val="191919"/>
                </a:solidFill>
                <a:latin typeface="Montserrat"/>
                <a:ea typeface="Montserrat"/>
                <a:cs typeface="Montserrat"/>
                <a:sym typeface="Montserrat"/>
              </a:rPr>
              <a:t> - The original paper focused on Transformers (Linear layers)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Freeform 2"/>
          <p:cNvSpPr/>
          <p:nvPr/>
        </p:nvSpPr>
        <p:spPr>
          <a:xfrm flipV="1">
            <a:off x="-2623352" y="192291"/>
            <a:ext cx="11412403" cy="14400509"/>
          </a:xfrm>
          <a:custGeom>
            <a:avLst/>
            <a:gdLst/>
            <a:ahLst/>
            <a:cxnLst/>
            <a:rect l="l" t="t" r="r" b="b"/>
            <a:pathLst>
              <a:path w="11412403" h="14400509">
                <a:moveTo>
                  <a:pt x="0" y="14400509"/>
                </a:moveTo>
                <a:lnTo>
                  <a:pt x="11412403" y="14400509"/>
                </a:lnTo>
                <a:lnTo>
                  <a:pt x="11412403" y="0"/>
                </a:lnTo>
                <a:lnTo>
                  <a:pt x="0" y="0"/>
                </a:lnTo>
                <a:lnTo>
                  <a:pt x="0" y="14400509"/>
                </a:lnTo>
                <a:close/>
              </a:path>
            </a:pathLst>
          </a:custGeom>
          <a:blipFill>
            <a:blip r:embed="rId3">
              <a:alphaModFix amt="59000"/>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TextBox 3"/>
          <p:cNvSpPr txBox="1"/>
          <p:nvPr/>
        </p:nvSpPr>
        <p:spPr>
          <a:xfrm>
            <a:off x="557979" y="542453"/>
            <a:ext cx="17730021" cy="889004"/>
          </a:xfrm>
          <a:prstGeom prst="rect">
            <a:avLst/>
          </a:prstGeom>
        </p:spPr>
        <p:txBody>
          <a:bodyPr lIns="0" tIns="0" rIns="0" bIns="0" rtlCol="0" anchor="t">
            <a:spAutoFit/>
          </a:bodyPr>
          <a:lstStyle/>
          <a:p>
            <a:pPr algn="l">
              <a:lnSpc>
                <a:spcPts val="6500"/>
              </a:lnSpc>
            </a:pPr>
            <a:r>
              <a:rPr lang="en-US" sz="6500" dirty="0">
                <a:solidFill>
                  <a:srgbClr val="191919"/>
                </a:solidFill>
                <a:latin typeface="Advanit"/>
                <a:ea typeface="Advanit"/>
                <a:cs typeface="Advanit"/>
                <a:sym typeface="Advanit"/>
              </a:rPr>
              <a:t>SINGULAR VALUE DECOMPOSITION (SVD)</a:t>
            </a:r>
          </a:p>
        </p:txBody>
      </p:sp>
      <p:sp>
        <p:nvSpPr>
          <p:cNvPr id="4" name="Freeform 4"/>
          <p:cNvSpPr/>
          <p:nvPr/>
        </p:nvSpPr>
        <p:spPr>
          <a:xfrm>
            <a:off x="3084166" y="2306906"/>
            <a:ext cx="12119667" cy="6620368"/>
          </a:xfrm>
          <a:custGeom>
            <a:avLst/>
            <a:gdLst/>
            <a:ahLst/>
            <a:cxnLst/>
            <a:rect l="l" t="t" r="r" b="b"/>
            <a:pathLst>
              <a:path w="12119667" h="6620368">
                <a:moveTo>
                  <a:pt x="0" y="0"/>
                </a:moveTo>
                <a:lnTo>
                  <a:pt x="12119668" y="0"/>
                </a:lnTo>
                <a:lnTo>
                  <a:pt x="12119668" y="6620368"/>
                </a:lnTo>
                <a:lnTo>
                  <a:pt x="0" y="6620368"/>
                </a:lnTo>
                <a:lnTo>
                  <a:pt x="0" y="0"/>
                </a:lnTo>
                <a:close/>
              </a:path>
            </a:pathLst>
          </a:custGeom>
          <a:blipFill>
            <a:blip r:embed="rId5"/>
            <a:stretch>
              <a:fillRect/>
            </a:stretch>
          </a:blipFill>
        </p:spPr>
        <p:txBody>
          <a:bodyPr/>
          <a:lstStyle/>
          <a:p>
            <a:endParaRPr lang="he-IL"/>
          </a:p>
        </p:txBody>
      </p:sp>
      <mc:AlternateContent xmlns:mc="http://schemas.openxmlformats.org/markup-compatibility/2006" xmlns:a14="http://schemas.microsoft.com/office/drawing/2010/main">
        <mc:Choice Requires="a14">
          <p:sp>
            <p:nvSpPr>
              <p:cNvPr id="5" name="תיבת טקסט 4">
                <a:extLst>
                  <a:ext uri="{FF2B5EF4-FFF2-40B4-BE49-F238E27FC236}">
                    <a16:creationId xmlns:a16="http://schemas.microsoft.com/office/drawing/2014/main" id="{8A3DFF89-E08A-E6D6-8477-33AD53F762D5}"/>
                  </a:ext>
                </a:extLst>
              </p:cNvPr>
              <p:cNvSpPr txBox="1"/>
              <p:nvPr/>
            </p:nvSpPr>
            <p:spPr>
              <a:xfrm>
                <a:off x="14859000" y="2857500"/>
                <a:ext cx="3287790" cy="678647"/>
              </a:xfrm>
              <a:prstGeom prst="rect">
                <a:avLst/>
              </a:prstGeom>
              <a:noFill/>
            </p:spPr>
            <p:txBody>
              <a:bodyPr wrap="square">
                <a:spAutoFit/>
              </a:bodyPr>
              <a:lstStyle/>
              <a:p>
                <a:pPr marL="782962" lvl="1" indent="-391481" algn="just">
                  <a:lnSpc>
                    <a:spcPts val="4932"/>
                  </a:lnSpc>
                  <a:buFont typeface="Arial"/>
                  <a:buChar char="•"/>
                </a:pPr>
                <a14:m>
                  <m:oMath xmlns:m="http://schemas.openxmlformats.org/officeDocument/2006/math">
                    <m:r>
                      <a:rPr lang="en-US" sz="3630" b="0" i="1" spc="-90" smtClean="0">
                        <a:solidFill>
                          <a:srgbClr val="191919"/>
                        </a:solidFill>
                        <a:latin typeface="Cambria Math" panose="02040503050406030204" pitchFamily="18" charset="0"/>
                        <a:ea typeface="Montserrat"/>
                        <a:cs typeface="Montserrat"/>
                        <a:sym typeface="Montserrat"/>
                      </a:rPr>
                      <m:t>𝑊</m:t>
                    </m:r>
                    <m:r>
                      <a:rPr lang="en-US" sz="3630" b="0" i="1" spc="-90" smtClean="0">
                        <a:solidFill>
                          <a:srgbClr val="191919"/>
                        </a:solidFill>
                        <a:latin typeface="Cambria Math" panose="02040503050406030204" pitchFamily="18" charset="0"/>
                        <a:ea typeface="Cambria Math" panose="02040503050406030204" pitchFamily="18" charset="0"/>
                        <a:cs typeface="Montserrat"/>
                        <a:sym typeface="Montserrat"/>
                      </a:rPr>
                      <m:t>∝</m:t>
                    </m:r>
                    <m:r>
                      <a:rPr lang="en-US" sz="3630" b="0" i="1" spc="-90" smtClean="0">
                        <a:solidFill>
                          <a:srgbClr val="191919"/>
                        </a:solidFill>
                        <a:latin typeface="Cambria Math" panose="02040503050406030204" pitchFamily="18" charset="0"/>
                        <a:ea typeface="Cambria Math" panose="02040503050406030204" pitchFamily="18" charset="0"/>
                        <a:cs typeface="Montserrat"/>
                        <a:sym typeface="Montserrat"/>
                      </a:rPr>
                      <m:t>𝑖𝑛𝑝𝑢𝑡</m:t>
                    </m:r>
                  </m:oMath>
                </a14:m>
                <a:endParaRPr lang="en-US" sz="3630" spc="-90" dirty="0">
                  <a:solidFill>
                    <a:srgbClr val="191919"/>
                  </a:solidFill>
                  <a:latin typeface="Montserrat"/>
                  <a:ea typeface="Montserrat"/>
                  <a:cs typeface="Montserrat"/>
                  <a:sym typeface="Montserrat"/>
                </a:endParaRPr>
              </a:p>
            </p:txBody>
          </p:sp>
        </mc:Choice>
        <mc:Fallback xmlns="">
          <p:sp>
            <p:nvSpPr>
              <p:cNvPr id="5" name="תיבת טקסט 4">
                <a:extLst>
                  <a:ext uri="{FF2B5EF4-FFF2-40B4-BE49-F238E27FC236}">
                    <a16:creationId xmlns:a16="http://schemas.microsoft.com/office/drawing/2014/main" id="{8A3DFF89-E08A-E6D6-8477-33AD53F762D5}"/>
                  </a:ext>
                </a:extLst>
              </p:cNvPr>
              <p:cNvSpPr txBox="1">
                <a:spLocks noRot="1" noChangeAspect="1" noMove="1" noResize="1" noEditPoints="1" noAdjustHandles="1" noChangeArrowheads="1" noChangeShapeType="1" noTextEdit="1"/>
              </p:cNvSpPr>
              <p:nvPr/>
            </p:nvSpPr>
            <p:spPr>
              <a:xfrm>
                <a:off x="14859000" y="2857500"/>
                <a:ext cx="3287790" cy="678647"/>
              </a:xfrm>
              <a:prstGeom prst="rect">
                <a:avLst/>
              </a:prstGeom>
              <a:blipFill>
                <a:blip r:embed="rId6"/>
                <a:stretch>
                  <a:fillRect/>
                </a:stretch>
              </a:blipFill>
            </p:spPr>
            <p:txBody>
              <a:bodyPr/>
              <a:lstStyle/>
              <a:p>
                <a:r>
                  <a:rPr lang="he-IL">
                    <a:noFill/>
                  </a:rPr>
                  <a:t> </a:t>
                </a:r>
              </a:p>
            </p:txBody>
          </p:sp>
        </mc:Fallback>
      </mc:AlternateContent>
      <p:sp>
        <p:nvSpPr>
          <p:cNvPr id="6" name="תיבת טקסט 5">
            <a:extLst>
              <a:ext uri="{FF2B5EF4-FFF2-40B4-BE49-F238E27FC236}">
                <a16:creationId xmlns:a16="http://schemas.microsoft.com/office/drawing/2014/main" id="{46AB9423-6D1B-D17C-ED83-D428C5850103}"/>
              </a:ext>
            </a:extLst>
          </p:cNvPr>
          <p:cNvSpPr txBox="1"/>
          <p:nvPr/>
        </p:nvSpPr>
        <p:spPr>
          <a:xfrm>
            <a:off x="11571210" y="8676007"/>
            <a:ext cx="3287790" cy="1307024"/>
          </a:xfrm>
          <a:prstGeom prst="rect">
            <a:avLst/>
          </a:prstGeom>
          <a:noFill/>
        </p:spPr>
        <p:txBody>
          <a:bodyPr wrap="square">
            <a:spAutoFit/>
          </a:bodyPr>
          <a:lstStyle/>
          <a:p>
            <a:pPr marL="391481" lvl="1" algn="just">
              <a:lnSpc>
                <a:spcPts val="4932"/>
              </a:lnSpc>
            </a:pPr>
            <a:endParaRPr lang="en-US" sz="3630" spc="-90" dirty="0">
              <a:solidFill>
                <a:srgbClr val="191919"/>
              </a:solidFill>
              <a:latin typeface="Montserrat"/>
              <a:ea typeface="Montserrat"/>
              <a:cs typeface="Montserrat"/>
              <a:sym typeface="Montserrat"/>
            </a:endParaRPr>
          </a:p>
          <a:p>
            <a:pPr marL="391481" lvl="1" algn="just">
              <a:lnSpc>
                <a:spcPts val="4932"/>
              </a:lnSpc>
            </a:pPr>
            <a:r>
              <a:rPr lang="en-US" sz="3630" spc="-90" dirty="0">
                <a:solidFill>
                  <a:srgbClr val="191919"/>
                </a:solidFill>
                <a:latin typeface="Montserrat"/>
                <a:ea typeface="Montserrat"/>
                <a:cs typeface="Montserrat"/>
                <a:sym typeface="Montserrat"/>
              </a:rPr>
              <a:t>directions</a:t>
            </a:r>
          </a:p>
        </p:txBody>
      </p:sp>
      <mc:AlternateContent xmlns:mc="http://schemas.openxmlformats.org/markup-compatibility/2006" xmlns:a14="http://schemas.microsoft.com/office/drawing/2010/main">
        <mc:Choice Requires="a14">
          <p:sp>
            <p:nvSpPr>
              <p:cNvPr id="7" name="תיבת טקסט 6">
                <a:extLst>
                  <a:ext uri="{FF2B5EF4-FFF2-40B4-BE49-F238E27FC236}">
                    <a16:creationId xmlns:a16="http://schemas.microsoft.com/office/drawing/2014/main" id="{D53F260D-2BDA-B0EC-EABE-4C9F12A8D5A3}"/>
                  </a:ext>
                </a:extLst>
              </p:cNvPr>
              <p:cNvSpPr txBox="1"/>
              <p:nvPr/>
            </p:nvSpPr>
            <p:spPr>
              <a:xfrm rot="16200000">
                <a:off x="11469859" y="8218333"/>
                <a:ext cx="3416623" cy="720710"/>
              </a:xfrm>
              <a:prstGeom prst="rect">
                <a:avLst/>
              </a:prstGeom>
              <a:noFill/>
            </p:spPr>
            <p:txBody>
              <a:bodyPr wrap="square">
                <a:spAutoFit/>
              </a:bodyPr>
              <a:lstStyle/>
              <a:p>
                <a:pPr marL="391481" lvl="1" algn="just">
                  <a:lnSpc>
                    <a:spcPts val="4932"/>
                  </a:lnSpc>
                </a:pPr>
                <a14:m>
                  <m:oMathPara xmlns:m="http://schemas.openxmlformats.org/officeDocument/2006/math">
                    <m:oMathParaPr>
                      <m:jc m:val="centerGroup"/>
                    </m:oMathParaPr>
                    <m:oMath xmlns:m="http://schemas.openxmlformats.org/officeDocument/2006/math">
                      <m:r>
                        <a:rPr lang="en-US" sz="3630" b="0" i="1" spc="-90" smtClean="0">
                          <a:solidFill>
                            <a:srgbClr val="191919"/>
                          </a:solidFill>
                          <a:latin typeface="Cambria Math" panose="02040503050406030204" pitchFamily="18" charset="0"/>
                          <a:ea typeface="Montserrat"/>
                          <a:cs typeface="Montserrat"/>
                          <a:sym typeface="Montserrat"/>
                        </a:rPr>
                        <m:t>−−→ </m:t>
                      </m:r>
                    </m:oMath>
                  </m:oMathPara>
                </a14:m>
                <a:endParaRPr lang="en-US" sz="3630" spc="-90" dirty="0">
                  <a:solidFill>
                    <a:srgbClr val="191919"/>
                  </a:solidFill>
                  <a:latin typeface="Montserrat"/>
                  <a:ea typeface="Montserrat"/>
                  <a:cs typeface="Montserrat"/>
                  <a:sym typeface="Montserrat"/>
                </a:endParaRPr>
              </a:p>
            </p:txBody>
          </p:sp>
        </mc:Choice>
        <mc:Fallback xmlns="">
          <p:sp>
            <p:nvSpPr>
              <p:cNvPr id="7" name="תיבת טקסט 6">
                <a:extLst>
                  <a:ext uri="{FF2B5EF4-FFF2-40B4-BE49-F238E27FC236}">
                    <a16:creationId xmlns:a16="http://schemas.microsoft.com/office/drawing/2014/main" id="{D53F260D-2BDA-B0EC-EABE-4C9F12A8D5A3}"/>
                  </a:ext>
                </a:extLst>
              </p:cNvPr>
              <p:cNvSpPr txBox="1">
                <a:spLocks noRot="1" noChangeAspect="1" noMove="1" noResize="1" noEditPoints="1" noAdjustHandles="1" noChangeArrowheads="1" noChangeShapeType="1" noTextEdit="1"/>
              </p:cNvSpPr>
              <p:nvPr/>
            </p:nvSpPr>
            <p:spPr>
              <a:xfrm rot="16200000">
                <a:off x="11469859" y="8218333"/>
                <a:ext cx="3416623" cy="720710"/>
              </a:xfrm>
              <a:prstGeom prst="rect">
                <a:avLst/>
              </a:prstGeom>
              <a:blipFill>
                <a:blip r:embed="rId7"/>
                <a:stretch>
                  <a:fillRect/>
                </a:stretch>
              </a:blipFill>
            </p:spPr>
            <p:txBody>
              <a:bodyPr/>
              <a:lstStyle/>
              <a:p>
                <a:r>
                  <a:rPr lang="he-IL">
                    <a:noFill/>
                  </a:rPr>
                  <a:t> </a:t>
                </a:r>
              </a:p>
            </p:txBody>
          </p:sp>
        </mc:Fallback>
      </mc:AlternateContent>
      <p:sp>
        <p:nvSpPr>
          <p:cNvPr id="8" name="תיבת טקסט 7">
            <a:extLst>
              <a:ext uri="{FF2B5EF4-FFF2-40B4-BE49-F238E27FC236}">
                <a16:creationId xmlns:a16="http://schemas.microsoft.com/office/drawing/2014/main" id="{CA04C96E-50F9-0DC5-7CEE-96C529257BE9}"/>
              </a:ext>
            </a:extLst>
          </p:cNvPr>
          <p:cNvSpPr txBox="1"/>
          <p:nvPr/>
        </p:nvSpPr>
        <p:spPr>
          <a:xfrm>
            <a:off x="8406437" y="9241462"/>
            <a:ext cx="3287790" cy="678647"/>
          </a:xfrm>
          <a:prstGeom prst="rect">
            <a:avLst/>
          </a:prstGeom>
          <a:noFill/>
        </p:spPr>
        <p:txBody>
          <a:bodyPr wrap="square">
            <a:spAutoFit/>
          </a:bodyPr>
          <a:lstStyle/>
          <a:p>
            <a:pPr marL="391481" lvl="1" algn="just">
              <a:lnSpc>
                <a:spcPts val="4932"/>
              </a:lnSpc>
            </a:pPr>
            <a:r>
              <a:rPr lang="en-US" sz="3630" spc="-90" dirty="0">
                <a:solidFill>
                  <a:srgbClr val="191919"/>
                </a:solidFill>
                <a:latin typeface="Montserrat"/>
                <a:ea typeface="Montserrat"/>
                <a:cs typeface="Montserrat"/>
                <a:sym typeface="Montserrat"/>
              </a:rPr>
              <a:t>importance</a:t>
            </a:r>
          </a:p>
        </p:txBody>
      </p:sp>
      <mc:AlternateContent xmlns:mc="http://schemas.openxmlformats.org/markup-compatibility/2006" xmlns:a14="http://schemas.microsoft.com/office/drawing/2010/main">
        <mc:Choice Requires="a14">
          <p:sp>
            <p:nvSpPr>
              <p:cNvPr id="9" name="תיבת טקסט 8">
                <a:extLst>
                  <a:ext uri="{FF2B5EF4-FFF2-40B4-BE49-F238E27FC236}">
                    <a16:creationId xmlns:a16="http://schemas.microsoft.com/office/drawing/2014/main" id="{182254CF-1909-89E9-6FBA-887DA4C83D5E}"/>
                  </a:ext>
                </a:extLst>
              </p:cNvPr>
              <p:cNvSpPr txBox="1"/>
              <p:nvPr/>
            </p:nvSpPr>
            <p:spPr>
              <a:xfrm rot="16200000">
                <a:off x="8478555" y="7994513"/>
                <a:ext cx="3864264" cy="720710"/>
              </a:xfrm>
              <a:prstGeom prst="rect">
                <a:avLst/>
              </a:prstGeom>
              <a:noFill/>
            </p:spPr>
            <p:txBody>
              <a:bodyPr wrap="square">
                <a:spAutoFit/>
              </a:bodyPr>
              <a:lstStyle/>
              <a:p>
                <a:pPr marL="391481" lvl="1" algn="just">
                  <a:lnSpc>
                    <a:spcPts val="4932"/>
                  </a:lnSpc>
                </a:pPr>
                <a14:m>
                  <m:oMathPara xmlns:m="http://schemas.openxmlformats.org/officeDocument/2006/math">
                    <m:oMathParaPr>
                      <m:jc m:val="centerGroup"/>
                    </m:oMathParaPr>
                    <m:oMath xmlns:m="http://schemas.openxmlformats.org/officeDocument/2006/math">
                      <m:r>
                        <a:rPr lang="en-US" sz="3630" b="0" i="1" spc="-90" smtClean="0">
                          <a:solidFill>
                            <a:srgbClr val="191919"/>
                          </a:solidFill>
                          <a:latin typeface="Cambria Math" panose="02040503050406030204" pitchFamily="18" charset="0"/>
                          <a:ea typeface="Montserrat"/>
                          <a:cs typeface="Montserrat"/>
                          <a:sym typeface="Montserrat"/>
                        </a:rPr>
                        <m:t>−−−→ </m:t>
                      </m:r>
                    </m:oMath>
                  </m:oMathPara>
                </a14:m>
                <a:endParaRPr lang="en-US" sz="3630" spc="-90" dirty="0">
                  <a:solidFill>
                    <a:srgbClr val="191919"/>
                  </a:solidFill>
                  <a:latin typeface="Montserrat"/>
                  <a:ea typeface="Montserrat"/>
                  <a:cs typeface="Montserrat"/>
                  <a:sym typeface="Montserrat"/>
                </a:endParaRPr>
              </a:p>
            </p:txBody>
          </p:sp>
        </mc:Choice>
        <mc:Fallback xmlns="">
          <p:sp>
            <p:nvSpPr>
              <p:cNvPr id="9" name="תיבת טקסט 8">
                <a:extLst>
                  <a:ext uri="{FF2B5EF4-FFF2-40B4-BE49-F238E27FC236}">
                    <a16:creationId xmlns:a16="http://schemas.microsoft.com/office/drawing/2014/main" id="{182254CF-1909-89E9-6FBA-887DA4C83D5E}"/>
                  </a:ext>
                </a:extLst>
              </p:cNvPr>
              <p:cNvSpPr txBox="1">
                <a:spLocks noRot="1" noChangeAspect="1" noMove="1" noResize="1" noEditPoints="1" noAdjustHandles="1" noChangeArrowheads="1" noChangeShapeType="1" noTextEdit="1"/>
              </p:cNvSpPr>
              <p:nvPr/>
            </p:nvSpPr>
            <p:spPr>
              <a:xfrm rot="16200000">
                <a:off x="8478555" y="7994513"/>
                <a:ext cx="3864264" cy="720710"/>
              </a:xfrm>
              <a:prstGeom prst="rect">
                <a:avLst/>
              </a:prstGeom>
              <a:blipFill>
                <a:blip r:embed="rId8"/>
                <a:stretch>
                  <a:fillRect/>
                </a:stretch>
              </a:blipFill>
            </p:spPr>
            <p:txBody>
              <a:bodyPr/>
              <a:lstStyle/>
              <a:p>
                <a:r>
                  <a:rPr lang="he-IL">
                    <a:noFill/>
                  </a:rPr>
                  <a:t> </a:t>
                </a:r>
              </a:p>
            </p:txBody>
          </p:sp>
        </mc:Fallback>
      </mc:AlternateContent>
      <mc:AlternateContent xmlns:mc="http://schemas.openxmlformats.org/markup-compatibility/2006">
        <mc:Choice xmlns:a14="http://schemas.microsoft.com/office/drawing/2010/main" Requires="a14">
          <p:sp>
            <p:nvSpPr>
              <p:cNvPr id="10" name="תיבת טקסט 9">
                <a:extLst>
                  <a:ext uri="{FF2B5EF4-FFF2-40B4-BE49-F238E27FC236}">
                    <a16:creationId xmlns:a16="http://schemas.microsoft.com/office/drawing/2014/main" id="{3E8850A1-3BAB-5F5F-4AA7-CA0B5358CD7C}"/>
                  </a:ext>
                </a:extLst>
              </p:cNvPr>
              <p:cNvSpPr txBox="1"/>
              <p:nvPr/>
            </p:nvSpPr>
            <p:spPr>
              <a:xfrm>
                <a:off x="4114800" y="7200900"/>
                <a:ext cx="1981200" cy="720710"/>
              </a:xfrm>
              <a:prstGeom prst="rect">
                <a:avLst/>
              </a:prstGeom>
              <a:solidFill>
                <a:schemeClr val="bg2"/>
              </a:solidFill>
            </p:spPr>
            <p:txBody>
              <a:bodyPr wrap="square">
                <a:spAutoFit/>
              </a:bodyPr>
              <a:lstStyle/>
              <a:p>
                <a:pPr marL="391481" lvl="1" algn="just">
                  <a:lnSpc>
                    <a:spcPts val="4932"/>
                  </a:lnSpc>
                </a:pPr>
                <a14:m>
                  <m:oMath xmlns:m="http://schemas.openxmlformats.org/officeDocument/2006/math">
                    <m:r>
                      <a:rPr lang="en-US" sz="4800" b="0" i="1" spc="-90" smtClean="0">
                        <a:solidFill>
                          <a:srgbClr val="191919"/>
                        </a:solidFill>
                        <a:latin typeface="Cambria Math" panose="02040503050406030204" pitchFamily="18" charset="0"/>
                        <a:ea typeface="Montserrat"/>
                        <a:cs typeface="Montserrat"/>
                        <a:sym typeface="Montserrat"/>
                      </a:rPr>
                      <m:t>(</m:t>
                    </m:r>
                    <m:r>
                      <a:rPr lang="en-US" sz="4800" b="0" i="1" spc="-90" smtClean="0">
                        <a:solidFill>
                          <a:srgbClr val="191919"/>
                        </a:solidFill>
                        <a:latin typeface="Cambria Math" panose="02040503050406030204" pitchFamily="18" charset="0"/>
                        <a:ea typeface="Montserrat"/>
                        <a:cs typeface="Montserrat"/>
                        <a:sym typeface="Montserrat"/>
                      </a:rPr>
                      <m:t>𝑊</m:t>
                    </m:r>
                  </m:oMath>
                </a14:m>
                <a:r>
                  <a:rPr lang="en-US" sz="4800" spc="-90" dirty="0">
                    <a:solidFill>
                      <a:srgbClr val="191919"/>
                    </a:solidFill>
                    <a:latin typeface="Montserrat"/>
                    <a:ea typeface="Montserrat"/>
                    <a:cs typeface="Montserrat"/>
                    <a:sym typeface="Montserrat"/>
                  </a:rPr>
                  <a:t>)</a:t>
                </a:r>
              </a:p>
            </p:txBody>
          </p:sp>
        </mc:Choice>
        <mc:Fallback>
          <p:sp>
            <p:nvSpPr>
              <p:cNvPr id="10" name="תיבת טקסט 9">
                <a:extLst>
                  <a:ext uri="{FF2B5EF4-FFF2-40B4-BE49-F238E27FC236}">
                    <a16:creationId xmlns:a16="http://schemas.microsoft.com/office/drawing/2014/main" id="{3E8850A1-3BAB-5F5F-4AA7-CA0B5358CD7C}"/>
                  </a:ext>
                </a:extLst>
              </p:cNvPr>
              <p:cNvSpPr txBox="1">
                <a:spLocks noRot="1" noChangeAspect="1" noMove="1" noResize="1" noEditPoints="1" noAdjustHandles="1" noChangeArrowheads="1" noChangeShapeType="1" noTextEdit="1"/>
              </p:cNvSpPr>
              <p:nvPr/>
            </p:nvSpPr>
            <p:spPr>
              <a:xfrm>
                <a:off x="4114800" y="7200900"/>
                <a:ext cx="1981200" cy="720710"/>
              </a:xfrm>
              <a:prstGeom prst="rect">
                <a:avLst/>
              </a:prstGeom>
              <a:blipFill>
                <a:blip r:embed="rId9"/>
                <a:stretch>
                  <a:fillRect t="-34746" b="-44068"/>
                </a:stretch>
              </a:blipFill>
            </p:spPr>
            <p:txBody>
              <a:bodyPr/>
              <a:lstStyle/>
              <a:p>
                <a:r>
                  <a:rPr lang="he-IL">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Freeform 2"/>
          <p:cNvSpPr/>
          <p:nvPr/>
        </p:nvSpPr>
        <p:spPr>
          <a:xfrm flipV="1">
            <a:off x="12148211" y="1028700"/>
            <a:ext cx="9131181" cy="11135587"/>
          </a:xfrm>
          <a:custGeom>
            <a:avLst/>
            <a:gdLst/>
            <a:ahLst/>
            <a:cxnLst/>
            <a:rect l="l" t="t" r="r" b="b"/>
            <a:pathLst>
              <a:path w="9131181" h="11135587">
                <a:moveTo>
                  <a:pt x="0" y="11135587"/>
                </a:moveTo>
                <a:lnTo>
                  <a:pt x="9131181" y="11135587"/>
                </a:lnTo>
                <a:lnTo>
                  <a:pt x="9131181" y="0"/>
                </a:lnTo>
                <a:lnTo>
                  <a:pt x="0" y="0"/>
                </a:lnTo>
                <a:lnTo>
                  <a:pt x="0" y="11135587"/>
                </a:lnTo>
                <a:close/>
              </a:path>
            </a:pathLst>
          </a:custGeom>
          <a:blipFill>
            <a:blip r:embed="rId3">
              <a:alphaModFix amt="59000"/>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TextBox 3"/>
          <p:cNvSpPr txBox="1"/>
          <p:nvPr/>
        </p:nvSpPr>
        <p:spPr>
          <a:xfrm>
            <a:off x="4938513" y="456598"/>
            <a:ext cx="8410973" cy="1117601"/>
          </a:xfrm>
          <a:prstGeom prst="rect">
            <a:avLst/>
          </a:prstGeom>
        </p:spPr>
        <p:txBody>
          <a:bodyPr lIns="0" tIns="0" rIns="0" bIns="0" rtlCol="0" anchor="t">
            <a:spAutoFit/>
          </a:bodyPr>
          <a:lstStyle/>
          <a:p>
            <a:pPr algn="just">
              <a:lnSpc>
                <a:spcPts val="8000"/>
              </a:lnSpc>
            </a:pPr>
            <a:r>
              <a:rPr lang="en-US" sz="8000">
                <a:solidFill>
                  <a:srgbClr val="191919"/>
                </a:solidFill>
                <a:latin typeface="Advanit"/>
                <a:ea typeface="Advanit"/>
                <a:cs typeface="Advanit"/>
                <a:sym typeface="Advanit"/>
              </a:rPr>
              <a:t>OUR APPROACH</a:t>
            </a:r>
          </a:p>
        </p:txBody>
      </p:sp>
      <p:sp>
        <p:nvSpPr>
          <p:cNvPr id="4" name="Freeform 4"/>
          <p:cNvSpPr/>
          <p:nvPr/>
        </p:nvSpPr>
        <p:spPr>
          <a:xfrm>
            <a:off x="1973888" y="1882547"/>
            <a:ext cx="14340224" cy="7833347"/>
          </a:xfrm>
          <a:custGeom>
            <a:avLst/>
            <a:gdLst/>
            <a:ahLst/>
            <a:cxnLst/>
            <a:rect l="l" t="t" r="r" b="b"/>
            <a:pathLst>
              <a:path w="14340224" h="7833347">
                <a:moveTo>
                  <a:pt x="0" y="0"/>
                </a:moveTo>
                <a:lnTo>
                  <a:pt x="14340224" y="0"/>
                </a:lnTo>
                <a:lnTo>
                  <a:pt x="14340224" y="7833347"/>
                </a:lnTo>
                <a:lnTo>
                  <a:pt x="0" y="7833347"/>
                </a:lnTo>
                <a:lnTo>
                  <a:pt x="0" y="0"/>
                </a:lnTo>
                <a:close/>
              </a:path>
            </a:pathLst>
          </a:custGeom>
          <a:blipFill>
            <a:blip r:embed="rId5"/>
            <a:stretch>
              <a:fillRect/>
            </a:stretch>
          </a:blipFill>
        </p:spPr>
        <p:txBody>
          <a:bodyPr/>
          <a:lstStyle/>
          <a:p>
            <a:endParaRPr lang="he-IL"/>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Freeform 2"/>
          <p:cNvSpPr/>
          <p:nvPr/>
        </p:nvSpPr>
        <p:spPr>
          <a:xfrm>
            <a:off x="4693089" y="-4909799"/>
            <a:ext cx="7748273" cy="10668878"/>
          </a:xfrm>
          <a:custGeom>
            <a:avLst/>
            <a:gdLst/>
            <a:ahLst/>
            <a:cxnLst/>
            <a:rect l="l" t="t" r="r" b="b"/>
            <a:pathLst>
              <a:path w="7748273" h="10668878">
                <a:moveTo>
                  <a:pt x="0" y="0"/>
                </a:moveTo>
                <a:lnTo>
                  <a:pt x="7748273" y="0"/>
                </a:lnTo>
                <a:lnTo>
                  <a:pt x="7748273" y="10668877"/>
                </a:lnTo>
                <a:lnTo>
                  <a:pt x="0" y="10668877"/>
                </a:lnTo>
                <a:lnTo>
                  <a:pt x="0" y="0"/>
                </a:lnTo>
                <a:close/>
              </a:path>
            </a:pathLst>
          </a:custGeom>
          <a:blipFill>
            <a:blip r:embed="rId3">
              <a:alphaModFix amt="59000"/>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p:cNvSpPr/>
          <p:nvPr/>
        </p:nvSpPr>
        <p:spPr>
          <a:xfrm>
            <a:off x="5846639" y="2781300"/>
            <a:ext cx="6946328" cy="5430498"/>
          </a:xfrm>
          <a:custGeom>
            <a:avLst/>
            <a:gdLst/>
            <a:ahLst/>
            <a:cxnLst/>
            <a:rect l="l" t="t" r="r" b="b"/>
            <a:pathLst>
              <a:path w="6946328" h="5430498">
                <a:moveTo>
                  <a:pt x="0" y="0"/>
                </a:moveTo>
                <a:lnTo>
                  <a:pt x="6946327" y="0"/>
                </a:lnTo>
                <a:lnTo>
                  <a:pt x="6946327" y="5430498"/>
                </a:lnTo>
                <a:lnTo>
                  <a:pt x="0" y="5430498"/>
                </a:lnTo>
                <a:lnTo>
                  <a:pt x="0" y="0"/>
                </a:lnTo>
                <a:close/>
              </a:path>
            </a:pathLst>
          </a:custGeom>
          <a:blipFill>
            <a:blip r:embed="rId5"/>
            <a:stretch>
              <a:fillRect/>
            </a:stretch>
          </a:blipFill>
        </p:spPr>
        <p:txBody>
          <a:bodyPr/>
          <a:lstStyle/>
          <a:p>
            <a:endParaRPr lang="he-IL"/>
          </a:p>
        </p:txBody>
      </p:sp>
      <p:sp>
        <p:nvSpPr>
          <p:cNvPr id="4" name="TextBox 4"/>
          <p:cNvSpPr txBox="1"/>
          <p:nvPr/>
        </p:nvSpPr>
        <p:spPr>
          <a:xfrm>
            <a:off x="2971800" y="735891"/>
            <a:ext cx="11918461" cy="1117601"/>
          </a:xfrm>
          <a:prstGeom prst="rect">
            <a:avLst/>
          </a:prstGeom>
        </p:spPr>
        <p:txBody>
          <a:bodyPr lIns="0" tIns="0" rIns="0" bIns="0" rtlCol="0" anchor="t">
            <a:spAutoFit/>
          </a:bodyPr>
          <a:lstStyle/>
          <a:p>
            <a:pPr algn="just">
              <a:lnSpc>
                <a:spcPts val="8000"/>
              </a:lnSpc>
            </a:pPr>
            <a:r>
              <a:rPr lang="en-US" sz="8000" dirty="0">
                <a:solidFill>
                  <a:srgbClr val="191919"/>
                </a:solidFill>
                <a:latin typeface="Advanit"/>
                <a:ea typeface="Advanit"/>
                <a:cs typeface="Advanit"/>
                <a:sym typeface="Advanit"/>
              </a:rPr>
              <a:t>EXPERIMENTAL SETUP</a:t>
            </a:r>
          </a:p>
        </p:txBody>
      </p:sp>
      <p:sp>
        <p:nvSpPr>
          <p:cNvPr id="5" name="TextBox 5"/>
          <p:cNvSpPr txBox="1"/>
          <p:nvPr/>
        </p:nvSpPr>
        <p:spPr>
          <a:xfrm>
            <a:off x="3184769" y="2962327"/>
            <a:ext cx="4138405" cy="228628"/>
          </a:xfrm>
          <a:prstGeom prst="rect">
            <a:avLst/>
          </a:prstGeom>
        </p:spPr>
        <p:txBody>
          <a:bodyPr lIns="0" tIns="0" rIns="0" bIns="0" rtlCol="0" anchor="t">
            <a:spAutoFit/>
          </a:bodyPr>
          <a:lstStyle/>
          <a:p>
            <a:pPr marL="388811" lvl="1" indent="-194406" algn="just">
              <a:lnSpc>
                <a:spcPts val="1710"/>
              </a:lnSpc>
              <a:buFont typeface="Arial"/>
              <a:buChar char="•"/>
            </a:pPr>
            <a:r>
              <a:rPr lang="en-US" sz="1800" b="1" spc="-45" dirty="0">
                <a:solidFill>
                  <a:srgbClr val="191919"/>
                </a:solidFill>
                <a:latin typeface="Montserrat Bold"/>
                <a:ea typeface="Montserrat Bold"/>
                <a:cs typeface="Montserrat Bold"/>
                <a:sym typeface="Montserrat Bold"/>
              </a:rPr>
              <a:t>CIFAR-10</a:t>
            </a:r>
          </a:p>
        </p:txBody>
      </p:sp>
      <p:sp>
        <p:nvSpPr>
          <p:cNvPr id="6" name="Freeform 6"/>
          <p:cNvSpPr/>
          <p:nvPr/>
        </p:nvSpPr>
        <p:spPr>
          <a:xfrm>
            <a:off x="2301064" y="2191123"/>
            <a:ext cx="13685872" cy="7475907"/>
          </a:xfrm>
          <a:custGeom>
            <a:avLst/>
            <a:gdLst/>
            <a:ahLst/>
            <a:cxnLst/>
            <a:rect l="l" t="t" r="r" b="b"/>
            <a:pathLst>
              <a:path w="13685872" h="7475907">
                <a:moveTo>
                  <a:pt x="0" y="0"/>
                </a:moveTo>
                <a:lnTo>
                  <a:pt x="13685872" y="0"/>
                </a:lnTo>
                <a:lnTo>
                  <a:pt x="13685872" y="7475907"/>
                </a:lnTo>
                <a:lnTo>
                  <a:pt x="0" y="7475907"/>
                </a:lnTo>
                <a:lnTo>
                  <a:pt x="0" y="0"/>
                </a:lnTo>
                <a:close/>
              </a:path>
            </a:pathLst>
          </a:custGeom>
          <a:blipFill>
            <a:blip r:embed="rId6"/>
            <a:stretch>
              <a:fillRect/>
            </a:stretch>
          </a:blipFill>
        </p:spPr>
        <p:txBody>
          <a:bodyPr/>
          <a:lstStyle/>
          <a:p>
            <a:endParaRPr lang="he-I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Freeform 2"/>
          <p:cNvSpPr/>
          <p:nvPr/>
        </p:nvSpPr>
        <p:spPr>
          <a:xfrm rot="6383463">
            <a:off x="6524267" y="-3124038"/>
            <a:ext cx="6788153" cy="8565493"/>
          </a:xfrm>
          <a:custGeom>
            <a:avLst/>
            <a:gdLst/>
            <a:ahLst/>
            <a:cxnLst/>
            <a:rect l="l" t="t" r="r" b="b"/>
            <a:pathLst>
              <a:path w="6788153" h="8565493">
                <a:moveTo>
                  <a:pt x="0" y="0"/>
                </a:moveTo>
                <a:lnTo>
                  <a:pt x="6788153" y="0"/>
                </a:lnTo>
                <a:lnTo>
                  <a:pt x="6788153" y="8565493"/>
                </a:lnTo>
                <a:lnTo>
                  <a:pt x="0" y="8565493"/>
                </a:lnTo>
                <a:lnTo>
                  <a:pt x="0" y="0"/>
                </a:lnTo>
                <a:close/>
              </a:path>
            </a:pathLst>
          </a:custGeom>
          <a:blipFill>
            <a:blip r:embed="rId3">
              <a:alphaModFix amt="59000"/>
              <a:extLst>
                <a:ext uri="{96DAC541-7B7A-43D3-8B79-37D633B846F1}">
                  <asvg:svgBlip xmlns:asvg="http://schemas.microsoft.com/office/drawing/2016/SVG/main" r:embed="rId4"/>
                </a:ext>
              </a:extLst>
            </a:blip>
            <a:stretch>
              <a:fillRect/>
            </a:stretch>
          </a:blipFill>
        </p:spPr>
        <p:txBody>
          <a:bodyPr/>
          <a:lstStyle/>
          <a:p>
            <a:endParaRPr lang="he-IL"/>
          </a:p>
        </p:txBody>
      </p:sp>
      <p:sp>
        <p:nvSpPr>
          <p:cNvPr id="3" name="Freeform 3"/>
          <p:cNvSpPr/>
          <p:nvPr/>
        </p:nvSpPr>
        <p:spPr>
          <a:xfrm>
            <a:off x="3493371" y="6389082"/>
            <a:ext cx="11301259" cy="2342908"/>
          </a:xfrm>
          <a:custGeom>
            <a:avLst/>
            <a:gdLst/>
            <a:ahLst/>
            <a:cxnLst/>
            <a:rect l="l" t="t" r="r" b="b"/>
            <a:pathLst>
              <a:path w="11301259" h="2342908">
                <a:moveTo>
                  <a:pt x="0" y="0"/>
                </a:moveTo>
                <a:lnTo>
                  <a:pt x="11301258" y="0"/>
                </a:lnTo>
                <a:lnTo>
                  <a:pt x="11301258" y="2342908"/>
                </a:lnTo>
                <a:lnTo>
                  <a:pt x="0" y="2342908"/>
                </a:lnTo>
                <a:lnTo>
                  <a:pt x="0" y="0"/>
                </a:lnTo>
                <a:close/>
              </a:path>
            </a:pathLst>
          </a:custGeom>
          <a:blipFill>
            <a:blip r:embed="rId5"/>
            <a:stretch>
              <a:fillRect t="-50386" r="-42433"/>
            </a:stretch>
          </a:blipFill>
        </p:spPr>
        <p:txBody>
          <a:bodyPr/>
          <a:lstStyle/>
          <a:p>
            <a:endParaRPr lang="he-IL"/>
          </a:p>
        </p:txBody>
      </p:sp>
      <p:sp>
        <p:nvSpPr>
          <p:cNvPr id="4" name="Freeform 4"/>
          <p:cNvSpPr/>
          <p:nvPr/>
        </p:nvSpPr>
        <p:spPr>
          <a:xfrm>
            <a:off x="3493371" y="3377274"/>
            <a:ext cx="11301259" cy="2246125"/>
          </a:xfrm>
          <a:custGeom>
            <a:avLst/>
            <a:gdLst/>
            <a:ahLst/>
            <a:cxnLst/>
            <a:rect l="l" t="t" r="r" b="b"/>
            <a:pathLst>
              <a:path w="11301259" h="2246125">
                <a:moveTo>
                  <a:pt x="0" y="0"/>
                </a:moveTo>
                <a:lnTo>
                  <a:pt x="11301258" y="0"/>
                </a:lnTo>
                <a:lnTo>
                  <a:pt x="11301258" y="2246125"/>
                </a:lnTo>
                <a:lnTo>
                  <a:pt x="0" y="2246125"/>
                </a:lnTo>
                <a:lnTo>
                  <a:pt x="0" y="0"/>
                </a:lnTo>
                <a:close/>
              </a:path>
            </a:pathLst>
          </a:custGeom>
          <a:blipFill>
            <a:blip r:embed="rId6"/>
            <a:stretch>
              <a:fillRect/>
            </a:stretch>
          </a:blipFill>
        </p:spPr>
        <p:txBody>
          <a:bodyPr/>
          <a:lstStyle/>
          <a:p>
            <a:endParaRPr lang="he-IL"/>
          </a:p>
        </p:txBody>
      </p:sp>
      <p:sp>
        <p:nvSpPr>
          <p:cNvPr id="5" name="TextBox 5"/>
          <p:cNvSpPr txBox="1"/>
          <p:nvPr/>
        </p:nvSpPr>
        <p:spPr>
          <a:xfrm>
            <a:off x="750310" y="1328569"/>
            <a:ext cx="16787380" cy="1117601"/>
          </a:xfrm>
          <a:prstGeom prst="rect">
            <a:avLst/>
          </a:prstGeom>
        </p:spPr>
        <p:txBody>
          <a:bodyPr lIns="0" tIns="0" rIns="0" bIns="0" rtlCol="0" anchor="t">
            <a:spAutoFit/>
          </a:bodyPr>
          <a:lstStyle/>
          <a:p>
            <a:pPr algn="l">
              <a:lnSpc>
                <a:spcPts val="8000"/>
              </a:lnSpc>
            </a:pPr>
            <a:r>
              <a:rPr lang="en-US" sz="8000" dirty="0">
                <a:solidFill>
                  <a:srgbClr val="191919"/>
                </a:solidFill>
                <a:latin typeface="Advanit"/>
                <a:ea typeface="Advanit"/>
                <a:cs typeface="Advanit"/>
                <a:sym typeface="Advanit"/>
              </a:rPr>
              <a:t>THE INTERVENTION MECHANISM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7" name="TextBox 7"/>
          <p:cNvSpPr txBox="1"/>
          <p:nvPr/>
        </p:nvSpPr>
        <p:spPr>
          <a:xfrm>
            <a:off x="6800850" y="753058"/>
            <a:ext cx="4686300" cy="1077218"/>
          </a:xfrm>
          <a:prstGeom prst="rect">
            <a:avLst/>
          </a:prstGeom>
        </p:spPr>
        <p:txBody>
          <a:bodyPr wrap="square" lIns="0" tIns="0" rIns="0" bIns="0" rtlCol="0" anchor="t">
            <a:spAutoFit/>
          </a:bodyPr>
          <a:lstStyle/>
          <a:p>
            <a:pPr algn="just">
              <a:lnSpc>
                <a:spcPts val="8000"/>
              </a:lnSpc>
            </a:pPr>
            <a:r>
              <a:rPr lang="en-US" sz="8000" dirty="0">
                <a:solidFill>
                  <a:srgbClr val="191919"/>
                </a:solidFill>
                <a:latin typeface="Advanit" panose="020B0604020202020204" charset="-79"/>
                <a:ea typeface="Antonio Ultra-Bold"/>
                <a:cs typeface="Advanit" panose="020B0604020202020204" charset="-79"/>
                <a:sym typeface="Antonio Ultra-Bold"/>
              </a:rPr>
              <a:t>RESULTS</a:t>
            </a:r>
          </a:p>
        </p:txBody>
      </p:sp>
      <p:pic>
        <p:nvPicPr>
          <p:cNvPr id="8" name="תמונה 7" descr="תמונה שמכילה טקסט, צילום מסך, תרשים, מקביל&#10;&#10;תוכן בינה מלאכותית גנרטיבית עשוי להיות שגוי.">
            <a:extLst>
              <a:ext uri="{FF2B5EF4-FFF2-40B4-BE49-F238E27FC236}">
                <a16:creationId xmlns:a16="http://schemas.microsoft.com/office/drawing/2014/main" id="{7F5071C4-FCBB-CC94-AB53-293833072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0925" y="2247900"/>
            <a:ext cx="11106150" cy="7296150"/>
          </a:xfrm>
          <a:prstGeom prst="rect">
            <a:avLst/>
          </a:prstGeom>
        </p:spPr>
      </p:pic>
      <p:pic>
        <p:nvPicPr>
          <p:cNvPr id="10" name="תמונה 9" descr="תמונה שמכילה טקסט, קו, צילום מסך, מספר&#10;&#10;תוכן בינה מלאכותית גנרטיבית עשוי להיות שגוי.">
            <a:extLst>
              <a:ext uri="{FF2B5EF4-FFF2-40B4-BE49-F238E27FC236}">
                <a16:creationId xmlns:a16="http://schemas.microsoft.com/office/drawing/2014/main" id="{06EA494B-7A4B-E9B9-35CB-43A9AD4C4D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96402" y="2796268"/>
            <a:ext cx="8383808" cy="5242832"/>
          </a:xfrm>
          <a:prstGeom prst="rect">
            <a:avLst/>
          </a:prstGeom>
        </p:spPr>
      </p:pic>
      <p:pic>
        <p:nvPicPr>
          <p:cNvPr id="12" name="תמונה 11" descr="תמונה שמכילה טקסט, צילום מסך, קו, מספר&#10;&#10;תוכן בינה מלאכותית גנרטיבית עשוי להיות שגוי.">
            <a:extLst>
              <a:ext uri="{FF2B5EF4-FFF2-40B4-BE49-F238E27FC236}">
                <a16:creationId xmlns:a16="http://schemas.microsoft.com/office/drawing/2014/main" id="{0D8DBB7D-19EC-CE95-3C19-B90880B8C2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4799" y="2796268"/>
            <a:ext cx="8686800" cy="5437414"/>
          </a:xfrm>
          <a:prstGeom prst="rect">
            <a:avLst/>
          </a:prstGeom>
        </p:spPr>
      </p:pic>
      <p:pic>
        <p:nvPicPr>
          <p:cNvPr id="14" name="תמונה 13" descr="תמונה שמכילה טקסט, צילום מסך, מספר&#10;&#10;תוכן בינה מלאכותית גנרטיבית עשוי להיות שגוי.">
            <a:extLst>
              <a:ext uri="{FF2B5EF4-FFF2-40B4-BE49-F238E27FC236}">
                <a16:creationId xmlns:a16="http://schemas.microsoft.com/office/drawing/2014/main" id="{BB6951A4-6176-2AC4-8BA9-4AB2E1F8ECB9}"/>
              </a:ext>
            </a:extLst>
          </p:cNvPr>
          <p:cNvPicPr>
            <a:picLocks noChangeAspect="1"/>
          </p:cNvPicPr>
          <p:nvPr/>
        </p:nvPicPr>
        <p:blipFill>
          <a:blip r:embed="rId6">
            <a:extLst>
              <a:ext uri="{28A0092B-C50C-407E-A947-70E740481C1C}">
                <a14:useLocalDpi xmlns:a14="http://schemas.microsoft.com/office/drawing/2010/main" val="0"/>
              </a:ext>
            </a:extLst>
          </a:blip>
          <a:srcRect l="561" t="29194" r="890" b="28886"/>
          <a:stretch>
            <a:fillRect/>
          </a:stretch>
        </p:blipFill>
        <p:spPr>
          <a:xfrm>
            <a:off x="457200" y="4229099"/>
            <a:ext cx="17068800" cy="25908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grpSp>
        <p:nvGrpSpPr>
          <p:cNvPr id="5" name="Group 5"/>
          <p:cNvGrpSpPr/>
          <p:nvPr/>
        </p:nvGrpSpPr>
        <p:grpSpPr>
          <a:xfrm>
            <a:off x="6892988" y="1026320"/>
            <a:ext cx="545498" cy="545498"/>
            <a:chOff x="0" y="0"/>
            <a:chExt cx="145359" cy="145359"/>
          </a:xfrm>
        </p:grpSpPr>
        <p:sp>
          <p:nvSpPr>
            <p:cNvPr id="6" name="Freeform 6"/>
            <p:cNvSpPr/>
            <p:nvPr/>
          </p:nvSpPr>
          <p:spPr>
            <a:xfrm>
              <a:off x="0" y="0"/>
              <a:ext cx="145359" cy="145359"/>
            </a:xfrm>
            <a:custGeom>
              <a:avLst/>
              <a:gdLst/>
              <a:ahLst/>
              <a:cxnLst/>
              <a:rect l="l" t="t" r="r" b="b"/>
              <a:pathLst>
                <a:path w="145359" h="145359">
                  <a:moveTo>
                    <a:pt x="0" y="0"/>
                  </a:moveTo>
                  <a:lnTo>
                    <a:pt x="145359" y="0"/>
                  </a:lnTo>
                  <a:lnTo>
                    <a:pt x="145359" y="145359"/>
                  </a:lnTo>
                  <a:lnTo>
                    <a:pt x="0" y="145359"/>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7" name="TextBox 7"/>
            <p:cNvSpPr txBox="1"/>
            <p:nvPr/>
          </p:nvSpPr>
          <p:spPr>
            <a:xfrm>
              <a:off x="0" y="38100"/>
              <a:ext cx="145359" cy="107259"/>
            </a:xfrm>
            <a:prstGeom prst="rect">
              <a:avLst/>
            </a:prstGeom>
          </p:spPr>
          <p:txBody>
            <a:bodyPr lIns="70173" tIns="70173" rIns="70173" bIns="70173" rtlCol="0" anchor="ctr"/>
            <a:lstStyle/>
            <a:p>
              <a:pPr algn="ctr">
                <a:lnSpc>
                  <a:spcPts val="1709"/>
                </a:lnSpc>
              </a:pPr>
              <a:endParaRPr/>
            </a:p>
          </p:txBody>
        </p:sp>
      </p:grpSp>
      <p:sp>
        <p:nvSpPr>
          <p:cNvPr id="8" name="Freeform 8"/>
          <p:cNvSpPr/>
          <p:nvPr/>
        </p:nvSpPr>
        <p:spPr>
          <a:xfrm>
            <a:off x="7010400" y="1143732"/>
            <a:ext cx="310673" cy="310673"/>
          </a:xfrm>
          <a:custGeom>
            <a:avLst/>
            <a:gdLst/>
            <a:ahLst/>
            <a:cxnLst/>
            <a:rect l="l" t="t" r="r" b="b"/>
            <a:pathLst>
              <a:path w="310673" h="310673">
                <a:moveTo>
                  <a:pt x="0" y="0"/>
                </a:moveTo>
                <a:lnTo>
                  <a:pt x="310674" y="0"/>
                </a:lnTo>
                <a:lnTo>
                  <a:pt x="310674" y="310674"/>
                </a:lnTo>
                <a:lnTo>
                  <a:pt x="0" y="31067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he-IL"/>
          </a:p>
        </p:txBody>
      </p:sp>
      <p:sp>
        <p:nvSpPr>
          <p:cNvPr id="10" name="TextBox 10"/>
          <p:cNvSpPr txBox="1"/>
          <p:nvPr/>
        </p:nvSpPr>
        <p:spPr>
          <a:xfrm>
            <a:off x="623119" y="786933"/>
            <a:ext cx="8288931" cy="1117601"/>
          </a:xfrm>
          <a:prstGeom prst="rect">
            <a:avLst/>
          </a:prstGeom>
        </p:spPr>
        <p:txBody>
          <a:bodyPr lIns="0" tIns="0" rIns="0" bIns="0" rtlCol="0" anchor="t">
            <a:spAutoFit/>
          </a:bodyPr>
          <a:lstStyle/>
          <a:p>
            <a:pPr algn="just">
              <a:lnSpc>
                <a:spcPts val="8000"/>
              </a:lnSpc>
            </a:pPr>
            <a:r>
              <a:rPr lang="en-US" sz="8000" dirty="0">
                <a:solidFill>
                  <a:srgbClr val="191919"/>
                </a:solidFill>
                <a:latin typeface="Advanit"/>
                <a:ea typeface="Advanit"/>
                <a:cs typeface="Advanit"/>
                <a:sym typeface="Advanit"/>
              </a:rPr>
              <a:t>DISCUSSION</a:t>
            </a:r>
          </a:p>
        </p:txBody>
      </p:sp>
      <p:sp>
        <p:nvSpPr>
          <p:cNvPr id="11" name="TextBox 11"/>
          <p:cNvSpPr txBox="1"/>
          <p:nvPr/>
        </p:nvSpPr>
        <p:spPr>
          <a:xfrm>
            <a:off x="381000" y="6134100"/>
            <a:ext cx="17526000" cy="3277820"/>
          </a:xfrm>
          <a:prstGeom prst="rect">
            <a:avLst/>
          </a:prstGeom>
        </p:spPr>
        <p:txBody>
          <a:bodyPr wrap="square" lIns="0" tIns="0" rIns="0" bIns="0" rtlCol="0" anchor="t">
            <a:spAutoFit/>
          </a:bodyPr>
          <a:lstStyle/>
          <a:p>
            <a:pPr marL="647694" lvl="1" indent="-323847">
              <a:lnSpc>
                <a:spcPts val="4199"/>
              </a:lnSpc>
              <a:buFont typeface="Arial"/>
              <a:buChar char="•"/>
            </a:pPr>
            <a:r>
              <a:rPr lang="en-US" sz="3600" spc="-74" dirty="0">
                <a:solidFill>
                  <a:srgbClr val="191919"/>
                </a:solidFill>
                <a:latin typeface="Montserrat"/>
                <a:ea typeface="Montserrat"/>
                <a:cs typeface="Montserrat"/>
                <a:sym typeface="Montserrat"/>
              </a:rPr>
              <a:t> Limitations</a:t>
            </a:r>
          </a:p>
          <a:p>
            <a:pPr>
              <a:lnSpc>
                <a:spcPts val="4199"/>
              </a:lnSpc>
            </a:pPr>
            <a:endParaRPr lang="en-US" sz="3600" spc="-74" dirty="0">
              <a:solidFill>
                <a:srgbClr val="191919"/>
              </a:solidFill>
              <a:latin typeface="Montserrat"/>
              <a:ea typeface="Montserrat"/>
              <a:cs typeface="Montserrat"/>
              <a:sym typeface="Montserrat"/>
            </a:endParaRPr>
          </a:p>
          <a:p>
            <a:pPr marL="1295387" lvl="2" indent="-431796">
              <a:lnSpc>
                <a:spcPct val="150000"/>
              </a:lnSpc>
              <a:buFont typeface="Arial"/>
              <a:buChar char="⚬"/>
            </a:pPr>
            <a:r>
              <a:rPr lang="en-US" sz="3600" spc="-74" dirty="0">
                <a:solidFill>
                  <a:srgbClr val="191919"/>
                </a:solidFill>
                <a:latin typeface="Montserrat"/>
                <a:ea typeface="Montserrat"/>
                <a:cs typeface="Montserrat"/>
                <a:sym typeface="Montserrat"/>
              </a:rPr>
              <a:t>The "Flattening" Cost - Flattening destroys spatial correlations essential for Vision features</a:t>
            </a:r>
          </a:p>
          <a:p>
            <a:pPr>
              <a:lnSpc>
                <a:spcPts val="4199"/>
              </a:lnSpc>
            </a:pPr>
            <a:endParaRPr lang="en-US" sz="3600" spc="-74" dirty="0">
              <a:solidFill>
                <a:srgbClr val="191919"/>
              </a:solidFill>
              <a:latin typeface="Montserrat"/>
              <a:ea typeface="Montserrat"/>
              <a:cs typeface="Montserrat"/>
              <a:sym typeface="Montserrat"/>
            </a:endParaRPr>
          </a:p>
        </p:txBody>
      </p:sp>
      <mc:AlternateContent xmlns:mc="http://schemas.openxmlformats.org/markup-compatibility/2006" xmlns:a14="http://schemas.microsoft.com/office/drawing/2010/main">
        <mc:Choice Requires="a14">
          <p:sp>
            <p:nvSpPr>
              <p:cNvPr id="12" name="TextBox 12"/>
              <p:cNvSpPr txBox="1"/>
              <p:nvPr/>
            </p:nvSpPr>
            <p:spPr>
              <a:xfrm>
                <a:off x="381000" y="2324100"/>
                <a:ext cx="16085954" cy="2693045"/>
              </a:xfrm>
              <a:prstGeom prst="rect">
                <a:avLst/>
              </a:prstGeom>
            </p:spPr>
            <p:txBody>
              <a:bodyPr lIns="0" tIns="0" rIns="0" bIns="0" rtlCol="0" anchor="t">
                <a:spAutoFit/>
              </a:bodyPr>
              <a:lstStyle/>
              <a:p>
                <a:pPr marL="647694" lvl="1" indent="-323847" algn="just">
                  <a:lnSpc>
                    <a:spcPts val="4199"/>
                  </a:lnSpc>
                  <a:buFont typeface="Arial"/>
                  <a:buChar char="•"/>
                </a:pPr>
                <a:r>
                  <a:rPr lang="en-US" sz="3600" spc="-74" dirty="0">
                    <a:solidFill>
                      <a:srgbClr val="191919"/>
                    </a:solidFill>
                    <a:latin typeface="Montserrat"/>
                    <a:ea typeface="Montserrat"/>
                    <a:cs typeface="Montserrat"/>
                    <a:sym typeface="Montserrat"/>
                  </a:rPr>
                  <a:t>Successes</a:t>
                </a:r>
              </a:p>
              <a:p>
                <a:pPr marL="1295387" lvl="2" indent="-431796" algn="just">
                  <a:lnSpc>
                    <a:spcPts val="4199"/>
                  </a:lnSpc>
                  <a:buFont typeface="Arial"/>
                  <a:buChar char="⚬"/>
                </a:pPr>
                <a:endParaRPr lang="en-US" sz="3600" spc="-74" dirty="0">
                  <a:solidFill>
                    <a:srgbClr val="191919"/>
                  </a:solidFill>
                  <a:latin typeface="Montserrat"/>
                  <a:ea typeface="Montserrat"/>
                  <a:cs typeface="Montserrat"/>
                  <a:sym typeface="Montserrat"/>
                </a:endParaRPr>
              </a:p>
              <a:p>
                <a:pPr marL="1295387" lvl="2" indent="-431796" algn="just">
                  <a:lnSpc>
                    <a:spcPts val="4199"/>
                  </a:lnSpc>
                  <a:buFont typeface="Arial"/>
                  <a:buChar char="⚬"/>
                </a:pPr>
                <a:r>
                  <a:rPr lang="en-US" sz="3600" spc="-74" dirty="0">
                    <a:solidFill>
                      <a:srgbClr val="191919"/>
                    </a:solidFill>
                    <a:latin typeface="Montserrat"/>
                    <a:ea typeface="Montserrat"/>
                    <a:cs typeface="Montserrat"/>
                    <a:sym typeface="Montserrat"/>
                  </a:rPr>
                  <a:t>Feasibility of finding sub-space via weight analysis</a:t>
                </a:r>
              </a:p>
              <a:p>
                <a:pPr algn="just">
                  <a:lnSpc>
                    <a:spcPts val="4199"/>
                  </a:lnSpc>
                </a:pPr>
                <a:endParaRPr lang="en-US" sz="3600" spc="-74" dirty="0">
                  <a:solidFill>
                    <a:srgbClr val="191919"/>
                  </a:solidFill>
                  <a:latin typeface="Montserrat"/>
                  <a:ea typeface="Montserrat"/>
                  <a:cs typeface="Montserrat"/>
                  <a:sym typeface="Montserrat"/>
                </a:endParaRPr>
              </a:p>
              <a:p>
                <a:pPr marL="1295387" lvl="2" indent="-431796" algn="just">
                  <a:lnSpc>
                    <a:spcPts val="4199"/>
                  </a:lnSpc>
                  <a:buFont typeface="Arial"/>
                  <a:buChar char="⚬"/>
                </a:pPr>
                <a:r>
                  <a:rPr lang="en-US" sz="3600" spc="-74" dirty="0">
                    <a:solidFill>
                      <a:srgbClr val="191919"/>
                    </a:solidFill>
                    <a:latin typeface="Montserrat"/>
                    <a:ea typeface="Montserrat"/>
                    <a:cs typeface="Montserrat"/>
                    <a:sym typeface="Montserrat"/>
                  </a:rPr>
                  <a:t>RSVD Effectiveness. Forgetting 47%  </a:t>
                </a:r>
                <a14:m>
                  <m:oMath xmlns:m="http://schemas.openxmlformats.org/officeDocument/2006/math">
                    <m:r>
                      <a:rPr lang="en-US" sz="3600" b="0" i="1" spc="-74" dirty="0" smtClean="0">
                        <a:solidFill>
                          <a:srgbClr val="191919"/>
                        </a:solidFill>
                        <a:latin typeface="Cambria Math" panose="02040503050406030204" pitchFamily="18" charset="0"/>
                        <a:ea typeface="Montserrat"/>
                        <a:cs typeface="Montserrat"/>
                        <a:sym typeface="Montserrat"/>
                      </a:rPr>
                      <m:t> →</m:t>
                    </m:r>
                  </m:oMath>
                </a14:m>
                <a:r>
                  <a:rPr lang="en-US" sz="3600" spc="-74" dirty="0">
                    <a:solidFill>
                      <a:srgbClr val="191919"/>
                    </a:solidFill>
                    <a:latin typeface="Montserrat"/>
                    <a:ea typeface="Montserrat"/>
                    <a:cs typeface="Montserrat"/>
                    <a:sym typeface="Montserrat"/>
                  </a:rPr>
                  <a:t> 17% in comparison to naive</a:t>
                </a:r>
              </a:p>
            </p:txBody>
          </p:sp>
        </mc:Choice>
        <mc:Fallback xmlns="">
          <p:sp>
            <p:nvSpPr>
              <p:cNvPr id="12" name="TextBox 12"/>
              <p:cNvSpPr txBox="1">
                <a:spLocks noRot="1" noChangeAspect="1" noMove="1" noResize="1" noEditPoints="1" noAdjustHandles="1" noChangeArrowheads="1" noChangeShapeType="1" noTextEdit="1"/>
              </p:cNvSpPr>
              <p:nvPr/>
            </p:nvSpPr>
            <p:spPr>
              <a:xfrm>
                <a:off x="381000" y="2324100"/>
                <a:ext cx="16085954" cy="2693045"/>
              </a:xfrm>
              <a:prstGeom prst="rect">
                <a:avLst/>
              </a:prstGeom>
              <a:blipFill>
                <a:blip r:embed="rId5"/>
                <a:stretch>
                  <a:fillRect t="-5656" r="-379" b="-10633"/>
                </a:stretch>
              </a:blipFill>
            </p:spPr>
            <p:txBody>
              <a:bodyPr/>
              <a:lstStyle/>
              <a:p>
                <a:r>
                  <a:rPr lang="he-I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6F3"/>
        </a:solidFill>
        <a:effectLst/>
      </p:bgPr>
    </p:bg>
    <p:spTree>
      <p:nvGrpSpPr>
        <p:cNvPr id="1" name=""/>
        <p:cNvGrpSpPr/>
        <p:nvPr/>
      </p:nvGrpSpPr>
      <p:grpSpPr>
        <a:xfrm>
          <a:off x="0" y="0"/>
          <a:ext cx="0" cy="0"/>
          <a:chOff x="0" y="0"/>
          <a:chExt cx="0" cy="0"/>
        </a:xfrm>
      </p:grpSpPr>
      <p:sp>
        <p:nvSpPr>
          <p:cNvPr id="2" name="TextBox 2"/>
          <p:cNvSpPr txBox="1"/>
          <p:nvPr/>
        </p:nvSpPr>
        <p:spPr>
          <a:xfrm>
            <a:off x="1001486" y="2546010"/>
            <a:ext cx="11659302" cy="5552107"/>
          </a:xfrm>
          <a:prstGeom prst="rect">
            <a:avLst/>
          </a:prstGeom>
        </p:spPr>
        <p:txBody>
          <a:bodyPr lIns="0" tIns="0" rIns="0" bIns="0" rtlCol="0" anchor="t">
            <a:spAutoFit/>
          </a:bodyPr>
          <a:lstStyle/>
          <a:p>
            <a:pPr algn="l">
              <a:lnSpc>
                <a:spcPts val="20961"/>
              </a:lnSpc>
            </a:pPr>
            <a:r>
              <a:rPr lang="en-US" sz="20961" dirty="0">
                <a:solidFill>
                  <a:srgbClr val="191919"/>
                </a:solidFill>
                <a:latin typeface="Advanit"/>
                <a:ea typeface="Advanit"/>
                <a:cs typeface="Advanit"/>
                <a:sym typeface="Advanit"/>
              </a:rPr>
              <a:t>THANK YOU</a:t>
            </a:r>
          </a:p>
        </p:txBody>
      </p:sp>
      <p:grpSp>
        <p:nvGrpSpPr>
          <p:cNvPr id="3" name="Group 3"/>
          <p:cNvGrpSpPr/>
          <p:nvPr/>
        </p:nvGrpSpPr>
        <p:grpSpPr>
          <a:xfrm>
            <a:off x="1028700" y="8083894"/>
            <a:ext cx="7715019" cy="762386"/>
            <a:chOff x="0" y="0"/>
            <a:chExt cx="1470971" cy="145359"/>
          </a:xfrm>
        </p:grpSpPr>
        <p:sp>
          <p:nvSpPr>
            <p:cNvPr id="4" name="Freeform 4"/>
            <p:cNvSpPr/>
            <p:nvPr/>
          </p:nvSpPr>
          <p:spPr>
            <a:xfrm>
              <a:off x="0" y="0"/>
              <a:ext cx="1470971" cy="145359"/>
            </a:xfrm>
            <a:custGeom>
              <a:avLst/>
              <a:gdLst/>
              <a:ahLst/>
              <a:cxnLst/>
              <a:rect l="l" t="t" r="r" b="b"/>
              <a:pathLst>
                <a:path w="1470971" h="145359">
                  <a:moveTo>
                    <a:pt x="0" y="0"/>
                  </a:moveTo>
                  <a:lnTo>
                    <a:pt x="1470971" y="0"/>
                  </a:lnTo>
                  <a:lnTo>
                    <a:pt x="1470971" y="145359"/>
                  </a:lnTo>
                  <a:lnTo>
                    <a:pt x="0" y="145359"/>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5" name="TextBox 5"/>
            <p:cNvSpPr txBox="1"/>
            <p:nvPr/>
          </p:nvSpPr>
          <p:spPr>
            <a:xfrm>
              <a:off x="0" y="-38100"/>
              <a:ext cx="1470971" cy="183459"/>
            </a:xfrm>
            <a:prstGeom prst="rect">
              <a:avLst/>
            </a:prstGeom>
          </p:spPr>
          <p:txBody>
            <a:bodyPr lIns="70173" tIns="70173" rIns="70173" bIns="70173" rtlCol="0" anchor="ctr"/>
            <a:lstStyle/>
            <a:p>
              <a:pPr algn="ctr">
                <a:lnSpc>
                  <a:spcPts val="2940"/>
                </a:lnSpc>
                <a:spcBef>
                  <a:spcPct val="0"/>
                </a:spcBef>
              </a:pPr>
              <a:endParaRPr/>
            </a:p>
          </p:txBody>
        </p:sp>
      </p:grpSp>
      <p:grpSp>
        <p:nvGrpSpPr>
          <p:cNvPr id="6" name="Group 6"/>
          <p:cNvGrpSpPr/>
          <p:nvPr/>
        </p:nvGrpSpPr>
        <p:grpSpPr>
          <a:xfrm>
            <a:off x="8919381" y="8083894"/>
            <a:ext cx="762386" cy="762386"/>
            <a:chOff x="0" y="0"/>
            <a:chExt cx="145359" cy="145359"/>
          </a:xfrm>
        </p:grpSpPr>
        <p:sp>
          <p:nvSpPr>
            <p:cNvPr id="7" name="Freeform 7"/>
            <p:cNvSpPr/>
            <p:nvPr/>
          </p:nvSpPr>
          <p:spPr>
            <a:xfrm>
              <a:off x="0" y="0"/>
              <a:ext cx="145359" cy="145359"/>
            </a:xfrm>
            <a:custGeom>
              <a:avLst/>
              <a:gdLst/>
              <a:ahLst/>
              <a:cxnLst/>
              <a:rect l="l" t="t" r="r" b="b"/>
              <a:pathLst>
                <a:path w="145359" h="145359">
                  <a:moveTo>
                    <a:pt x="0" y="0"/>
                  </a:moveTo>
                  <a:lnTo>
                    <a:pt x="145359" y="0"/>
                  </a:lnTo>
                  <a:lnTo>
                    <a:pt x="145359" y="145359"/>
                  </a:lnTo>
                  <a:lnTo>
                    <a:pt x="0" y="145359"/>
                  </a:lnTo>
                  <a:close/>
                </a:path>
              </a:pathLst>
            </a:custGeom>
            <a:solidFill>
              <a:srgbClr val="000000">
                <a:alpha val="0"/>
              </a:srgbClr>
            </a:solidFill>
            <a:ln w="19050" cap="sq">
              <a:solidFill>
                <a:srgbClr val="191919"/>
              </a:solidFill>
              <a:prstDash val="solid"/>
              <a:miter/>
            </a:ln>
          </p:spPr>
          <p:txBody>
            <a:bodyPr/>
            <a:lstStyle/>
            <a:p>
              <a:endParaRPr lang="he-IL"/>
            </a:p>
          </p:txBody>
        </p:sp>
        <p:sp>
          <p:nvSpPr>
            <p:cNvPr id="8" name="TextBox 8"/>
            <p:cNvSpPr txBox="1"/>
            <p:nvPr/>
          </p:nvSpPr>
          <p:spPr>
            <a:xfrm>
              <a:off x="0" y="57150"/>
              <a:ext cx="145359" cy="88209"/>
            </a:xfrm>
            <a:prstGeom prst="rect">
              <a:avLst/>
            </a:prstGeom>
          </p:spPr>
          <p:txBody>
            <a:bodyPr lIns="70173" tIns="70173" rIns="70173" bIns="70173" rtlCol="0" anchor="ctr"/>
            <a:lstStyle/>
            <a:p>
              <a:pPr algn="ctr">
                <a:lnSpc>
                  <a:spcPts val="1995"/>
                </a:lnSpc>
              </a:pPr>
              <a:endParaRPr/>
            </a:p>
          </p:txBody>
        </p:sp>
      </p:grpSp>
      <p:sp>
        <p:nvSpPr>
          <p:cNvPr id="9" name="Freeform 9"/>
          <p:cNvSpPr/>
          <p:nvPr/>
        </p:nvSpPr>
        <p:spPr>
          <a:xfrm>
            <a:off x="9083476" y="8247989"/>
            <a:ext cx="434196" cy="434196"/>
          </a:xfrm>
          <a:custGeom>
            <a:avLst/>
            <a:gdLst/>
            <a:ahLst/>
            <a:cxnLst/>
            <a:rect l="l" t="t" r="r" b="b"/>
            <a:pathLst>
              <a:path w="434196" h="434196">
                <a:moveTo>
                  <a:pt x="0" y="0"/>
                </a:moveTo>
                <a:lnTo>
                  <a:pt x="434196" y="0"/>
                </a:lnTo>
                <a:lnTo>
                  <a:pt x="434196" y="434196"/>
                </a:lnTo>
                <a:lnTo>
                  <a:pt x="0" y="43419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he-IL"/>
          </a:p>
        </p:txBody>
      </p:sp>
      <p:sp>
        <p:nvSpPr>
          <p:cNvPr id="10" name="Freeform 10"/>
          <p:cNvSpPr/>
          <p:nvPr/>
        </p:nvSpPr>
        <p:spPr>
          <a:xfrm flipH="1">
            <a:off x="9517672" y="-1642296"/>
            <a:ext cx="11412403" cy="14400509"/>
          </a:xfrm>
          <a:custGeom>
            <a:avLst/>
            <a:gdLst/>
            <a:ahLst/>
            <a:cxnLst/>
            <a:rect l="l" t="t" r="r" b="b"/>
            <a:pathLst>
              <a:path w="11412403" h="14400509">
                <a:moveTo>
                  <a:pt x="11412403" y="0"/>
                </a:moveTo>
                <a:lnTo>
                  <a:pt x="0" y="0"/>
                </a:lnTo>
                <a:lnTo>
                  <a:pt x="0" y="14400509"/>
                </a:lnTo>
                <a:lnTo>
                  <a:pt x="11412403" y="14400509"/>
                </a:lnTo>
                <a:lnTo>
                  <a:pt x="11412403" y="0"/>
                </a:lnTo>
                <a:close/>
              </a:path>
            </a:pathLst>
          </a:custGeom>
          <a:blipFill>
            <a:blip r:embed="rId4">
              <a:alphaModFix amt="59000"/>
              <a:extLst>
                <a:ext uri="{96DAC541-7B7A-43D3-8B79-37D633B846F1}">
                  <asvg:svgBlip xmlns:asvg="http://schemas.microsoft.com/office/drawing/2016/SVG/main" r:embed="rId5"/>
                </a:ext>
              </a:extLst>
            </a:blip>
            <a:stretch>
              <a:fillRect/>
            </a:stretch>
          </a:blipFill>
        </p:spPr>
        <p:txBody>
          <a:bodyPr/>
          <a:lstStyle/>
          <a:p>
            <a:endParaRPr lang="he-IL"/>
          </a:p>
        </p:txBody>
      </p:sp>
      <p:sp>
        <p:nvSpPr>
          <p:cNvPr id="11" name="TextBox 11"/>
          <p:cNvSpPr txBox="1"/>
          <p:nvPr/>
        </p:nvSpPr>
        <p:spPr>
          <a:xfrm>
            <a:off x="1028700" y="1326928"/>
            <a:ext cx="5922364" cy="357996"/>
          </a:xfrm>
          <a:prstGeom prst="rect">
            <a:avLst/>
          </a:prstGeom>
        </p:spPr>
        <p:txBody>
          <a:bodyPr lIns="0" tIns="0" rIns="0" bIns="0" rtlCol="0" anchor="t">
            <a:spAutoFit/>
          </a:bodyPr>
          <a:lstStyle/>
          <a:p>
            <a:pPr algn="l">
              <a:lnSpc>
                <a:spcPts val="2755"/>
              </a:lnSpc>
            </a:pPr>
            <a:r>
              <a:rPr lang="en-US" sz="2900" i="1" spc="-72">
                <a:solidFill>
                  <a:srgbClr val="191919"/>
                </a:solidFill>
                <a:latin typeface="Montserrat Italics"/>
                <a:ea typeface="Montserrat Italics"/>
                <a:cs typeface="Montserrat Italics"/>
                <a:sym typeface="Montserrat Italics"/>
              </a:rPr>
              <a:t>Group 12</a:t>
            </a:r>
          </a:p>
        </p:txBody>
      </p:sp>
      <p:sp>
        <p:nvSpPr>
          <p:cNvPr id="18" name="TextBox 11">
            <a:extLst>
              <a:ext uri="{FF2B5EF4-FFF2-40B4-BE49-F238E27FC236}">
                <a16:creationId xmlns:a16="http://schemas.microsoft.com/office/drawing/2014/main" id="{D4D3F5D9-82EC-700B-FE85-31BC6FB6C14E}"/>
              </a:ext>
            </a:extLst>
          </p:cNvPr>
          <p:cNvSpPr txBox="1"/>
          <p:nvPr/>
        </p:nvSpPr>
        <p:spPr>
          <a:xfrm>
            <a:off x="1689283" y="8345960"/>
            <a:ext cx="6393852" cy="396070"/>
          </a:xfrm>
          <a:prstGeom prst="rect">
            <a:avLst/>
          </a:prstGeom>
        </p:spPr>
        <p:txBody>
          <a:bodyPr lIns="0" tIns="0" rIns="0" bIns="0" rtlCol="0" anchor="t">
            <a:spAutoFit/>
          </a:bodyPr>
          <a:lstStyle/>
          <a:p>
            <a:pPr algn="ctr">
              <a:lnSpc>
                <a:spcPts val="2755"/>
              </a:lnSpc>
            </a:pPr>
            <a:r>
              <a:rPr lang="en-US" sz="4000" spc="-72" dirty="0">
                <a:solidFill>
                  <a:srgbClr val="191919"/>
                </a:solidFill>
                <a:latin typeface="Montserrat"/>
                <a:ea typeface="Montserrat"/>
                <a:cs typeface="Montserrat"/>
                <a:sym typeface="Montserrat"/>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1834</TotalTime>
  <Words>1440</Words>
  <Application>Microsoft Office PowerPoint</Application>
  <PresentationFormat>מותאם אישית</PresentationFormat>
  <Paragraphs>122</Paragraphs>
  <Slides>11</Slides>
  <Notes>10</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11</vt:i4>
      </vt:variant>
    </vt:vector>
  </HeadingPairs>
  <TitlesOfParts>
    <vt:vector size="19" baseType="lpstr">
      <vt:lpstr>Montserrat</vt:lpstr>
      <vt:lpstr>Montserrat Bold</vt:lpstr>
      <vt:lpstr>Advanit</vt:lpstr>
      <vt:lpstr>Montserrat Italics</vt:lpstr>
      <vt:lpstr>Cambria Math</vt:lpstr>
      <vt:lpstr>Calibri</vt:lpstr>
      <vt:lpstr>Arial</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Subspace Constraints for Continual Learning:</dc:title>
  <cp:lastModifiedBy>ענבר יעקובי</cp:lastModifiedBy>
  <cp:revision>16</cp:revision>
  <dcterms:created xsi:type="dcterms:W3CDTF">2006-08-16T00:00:00Z</dcterms:created>
  <dcterms:modified xsi:type="dcterms:W3CDTF">2026-01-12T13:11:04Z</dcterms:modified>
  <dc:identifier>DAG9i6wf_KU</dc:identifier>
</cp:coreProperties>
</file>